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2E3A"/>
                </a:solidFill>
                <a:latin typeface="Arial"/>
              </a:defRPr>
            </a:pPr>
            <a:r>
              <a:rPr sz="1400" b="0" i="0" u="none" strike="noStrike">
                <a:solidFill>
                  <a:srgbClr val="0B2E3A"/>
                </a:solidFill>
                <a:latin typeface="Arial"/>
              </a:rPr>
              <a:t>Automated checks by layer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Checks</c:v>
                </c:pt>
              </c:strCache>
            </c:strRef>
          </c:tx>
          <c:spPr>
            <a:solidFill>
              <a:srgbClr val="1F7A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B2E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Project suites</c:v>
                  </c:pt>
                  <c:pt idx="1">
                    <c:v>sql-conversion (SQL)</c:v>
                  </c:pt>
                  <c:pt idx="2">
                    <c:v>sql-reporting (SQL)</c:v>
                  </c:pt>
                  <c:pt idx="3">
                    <c:v>Informatica (SQL)</c:v>
                  </c:pt>
                  <c:pt idx="4">
                    <c:v>migkit + governance (unit)</c:v>
                  </c:pt>
                  <c:pt idx="5">
                    <c:v>Informatica tool (unit)</c:v>
                  </c:pt>
                  <c:pt idx="6">
                    <c:v>Assessment · Redshift · Iceberg · schema · change (unit)</c:v>
                  </c:pt>
                  <c:pt idx="7">
                    <c:v>Agent hooks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153</c:v>
                </c:pt>
                <c:pt idx="1">
                  <c:v>257</c:v>
                </c:pt>
                <c:pt idx="2">
                  <c:v>88</c:v>
                </c:pt>
                <c:pt idx="3">
                  <c:v>38</c:v>
                </c:pt>
                <c:pt idx="4">
                  <c:v>41</c:v>
                </c:pt>
                <c:pt idx="5">
                  <c:v>27</c:v>
                </c:pt>
                <c:pt idx="6">
                  <c:v>52</c:v>
                </c:pt>
                <c:pt idx="7">
                  <c:v>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B2E3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E2B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8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a Kiro-based kit that migrates a SQL Server estate (database code, reports, Informatica ETL) to Aurora PostgreSQL. Every result is proven by tests; the agent operates inside deterministic guardrails with a full audit trail.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figures are a hypothetical example for discussion. Hours per unit: stored procedure manual 15 h (2 analysis, 6 conversion, 4 tests, 3 debugging) vs 4.5 h with the kit (1.5 spec and flag review, 2 review of generated code and tests, 1 fixes); report 6 h vs 2 h; Informatica mapping 12 h (finding SQL in XML, conversion, safe XML edits, testing) vs 3.5 h. Quality: 290 objects, 1 escaped defect per 4 objects manually (~73) vs 80% fewer (~15), 6 h each: 438 h vs 90 h. Regression: 2 engineers x 1 week = 80 h per release, 4 releases per year. Replace the assumptions with your own baseline.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top to bottom: people use the Kiro agent; the agent draws on steering, skills and optional MCP servers; tools do everything that must be exact; data and evidence stay local unless AWS services are configured.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Delivered in September 2026: five new skills (assessment, Redshift, Iceberg, schema conformance, change propagation) and a governance layer shared by all eight. Next: data validation proves the data, not only the code; serving paths for BI. AI-DLC: the kit already produces reviewable packages per unit of work; integrating with the AI-Driven Development Lifecycle is planned as steering plus an adapter, no code yet. Later: Oracle targets and Informatica ETL to Redshift/Oracle on the same engine and guardrails.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E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SQL Server → Aurora PostgreSQL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FE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migration with Kiro: guarded, tested, traceable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606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F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overview · steering · skills · architecture · MCP &amp; knowledge · security guardrails · testing · AWS services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3931920"/>
            <a:ext cx="2468880" cy="1828800"/>
          </a:xfrm>
          <a:prstGeom prst="roundRect">
            <a:avLst>
              <a:gd name="adj" fmla="val 5000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02336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2A0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611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4937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checks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 on Aurora PostgreSQL 17.7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74720" y="3931920"/>
            <a:ext cx="2468880" cy="1828800"/>
          </a:xfrm>
          <a:prstGeom prst="roundRect">
            <a:avLst>
              <a:gd name="adj" fmla="val 5000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74720" y="402336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2A0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4937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skills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T-SQL · reporting · Informatica ETL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3931920"/>
            <a:ext cx="2468880" cy="1828800"/>
          </a:xfrm>
          <a:prstGeom prst="roundRect">
            <a:avLst>
              <a:gd name="adj" fmla="val 5000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0" y="402336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2A0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8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4937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steering rulebooks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in the agent's context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3931920"/>
            <a:ext cx="2468880" cy="1828800"/>
          </a:xfrm>
          <a:prstGeom prst="roundRect">
            <a:avLst>
              <a:gd name="adj" fmla="val 5000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961120" y="402336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2A0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800" dirty="0"/>
          </a:p>
        </p:txBody>
      </p:sp>
      <p:sp>
        <p:nvSpPr>
          <p:cNvPr id="16" name="Text 14"/>
          <p:cNvSpPr txBox="1"/>
          <p:nvPr/>
        </p:nvSpPr>
        <p:spPr>
          <a:xfrm>
            <a:off x="9098280" y="4937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failures in the latest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verification run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kit delivers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workstreams and three targets (Aurora · Redshift · Iceberg on S3), one method: convert faithfully, prove it, record everything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74520"/>
            <a:ext cx="640080" cy="64008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8745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code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974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T-SQL procedures, functions, triggers and DDL → PL/pgSQL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65760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routines + 17 tables converted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business decisions flagged, none hidden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0" y="164592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0" y="1874520"/>
            <a:ext cx="640080" cy="640080"/>
          </a:xfrm>
          <a:prstGeom prst="ellipse">
            <a:avLst/>
          </a:prstGeom>
          <a:solidFill>
            <a:srgbClr val="5B4B8A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0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349240" y="18745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Reports &amp; analytics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6974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and dashboard SQL on the converted schema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365760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tested report patterns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5B4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query-correctness rules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46720" y="164592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21040" y="1874520"/>
            <a:ext cx="640080" cy="640080"/>
          </a:xfrm>
          <a:prstGeom prst="ellipse">
            <a:avLst/>
          </a:prstGeom>
          <a:solidFill>
            <a:srgbClr val="E8710A"/>
          </a:solidFill>
          <a:ln w="12700">
            <a:solidFill>
              <a:srgbClr val="E8710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0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9098280" y="18745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Informatica ETL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26974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PowerCenter XML with embedded SQL Server SQL → PostgreSQL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365760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71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example mappings, 44 corner cases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E871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export format round-trips byte for byte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5120640"/>
            <a:ext cx="310896" cy="310896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5120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5111496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 parity — bugs are preserved and flagged, never silently fixed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5541264"/>
            <a:ext cx="310896" cy="310896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8640" y="55412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05840" y="5532120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means tested — nothing is reported as converted without a passing run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48640" y="5961888"/>
            <a:ext cx="310896" cy="310896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5961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05840" y="5952744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outside the model — hooks and tools enforce the rules deterministically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→ Aurora PostgreSQL with Kiro  · 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Productivity gain — a worked example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Hypothetical estate: 200 stored procedures · 50 reports · 40 Informatica mappings (illustrative assumptions, replace with your baseline)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690372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594360"/>
                <a:gridCol w="868680"/>
                <a:gridCol w="868680"/>
                <a:gridCol w="822960"/>
                <a:gridCol w="822960"/>
                <a:gridCol w="777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Workstream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h / unit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 kit h / unit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hours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 kit hours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Stored procedures → PL/pgSQL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Reports &amp; analytics SQL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Informatica mappings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2,640 (70%)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657600"/>
            <a:ext cx="6903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unit, manual = analysis, conversion, writing tests, debugging. With kit = spec review, agent conversion with generated tests and checks, engineer review of flags and fixes.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48640" y="4251960"/>
            <a:ext cx="6903720" cy="658368"/>
          </a:xfrm>
          <a:prstGeom prst="roundRect">
            <a:avLst>
              <a:gd name="adj" fmla="val 6944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42519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2148840" y="4251960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and checks before delivery: assume 1 escaped defect per 4 objects manually (≈73) and 80% fewer with the kit (≈15); 6 h triage + fix each → ≈350 h less rework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5001768"/>
            <a:ext cx="6903720" cy="658368"/>
          </a:xfrm>
          <a:prstGeom prst="roundRect">
            <a:avLst>
              <a:gd name="adj" fmla="val 6944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5001768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effort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2148840" y="5001768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object ships with tagged tests (611 checks today): regression per release drops from ≈80 h manual re-testing to a ≈10-minute run — ≈320 h per year at 4 releases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8640" y="5751576"/>
            <a:ext cx="6903720" cy="658368"/>
          </a:xfrm>
          <a:prstGeom prst="roundRect">
            <a:avLst>
              <a:gd name="adj" fmla="val 6944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575157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Maintainability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2148840" y="5751576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rule fixed once in steering or a skill is re-applied and re-verified everywhere; the coverage gate stops untested rules; the audit trail turns incident triage from hours into minutes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818120" y="1600200"/>
            <a:ext cx="3840480" cy="1078992"/>
          </a:xfrm>
          <a:prstGeom prst="roundRect">
            <a:avLst>
              <a:gd name="adj" fmla="val 6780"/>
            </a:avLst>
          </a:prstGeom>
          <a:solidFill>
            <a:srgbClr val="0B2E3A"/>
          </a:solidFill>
          <a:ln w="12700">
            <a:solidFill>
              <a:srgbClr val="0B2E3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955280" y="1600200"/>
            <a:ext cx="17830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A0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2,640 h</a:t>
            </a:r>
            <a:endParaRPr lang="en-US" sz="2800" dirty="0"/>
          </a:p>
        </p:txBody>
      </p:sp>
      <p:sp>
        <p:nvSpPr>
          <p:cNvPr id="17" name="Text 14"/>
          <p:cNvSpPr txBox="1"/>
          <p:nvPr/>
        </p:nvSpPr>
        <p:spPr>
          <a:xfrm>
            <a:off x="9738360" y="1600200"/>
            <a:ext cx="1828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hours saved (70%)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330 person-days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818120" y="2807208"/>
            <a:ext cx="3840480" cy="1078992"/>
          </a:xfrm>
          <a:prstGeom prst="roundRect">
            <a:avLst>
              <a:gd name="adj" fmla="val 6780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955280" y="2807208"/>
            <a:ext cx="17830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A0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≈350 h</a:t>
            </a:r>
            <a:endParaRPr lang="en-US" sz="2800" dirty="0"/>
          </a:p>
        </p:txBody>
      </p:sp>
      <p:sp>
        <p:nvSpPr>
          <p:cNvPr id="20" name="Text 17"/>
          <p:cNvSpPr txBox="1"/>
          <p:nvPr/>
        </p:nvSpPr>
        <p:spPr>
          <a:xfrm>
            <a:off x="9738360" y="2807208"/>
            <a:ext cx="1828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defect rework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≈80% fewer escaped defects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7818120" y="4014216"/>
            <a:ext cx="3840480" cy="1078992"/>
          </a:xfrm>
          <a:prstGeom prst="roundRect">
            <a:avLst>
              <a:gd name="adj" fmla="val 6780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955280" y="4014216"/>
            <a:ext cx="17830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0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≈320 h / yr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9738360" y="4014216"/>
            <a:ext cx="1828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effort avoided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minutes, not weeks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7818120" y="5221224"/>
            <a:ext cx="3840480" cy="1078992"/>
          </a:xfrm>
          <a:prstGeom prst="roundRect">
            <a:avLst>
              <a:gd name="adj" fmla="val 6780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955280" y="5221224"/>
            <a:ext cx="17830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A0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800" dirty="0"/>
          </a:p>
        </p:txBody>
      </p:sp>
      <p:sp>
        <p:nvSpPr>
          <p:cNvPr id="26" name="Text 23"/>
          <p:cNvSpPr txBox="1"/>
          <p:nvPr/>
        </p:nvSpPr>
        <p:spPr>
          <a:xfrm>
            <a:off x="9738360" y="5221224"/>
            <a:ext cx="1828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and corner cases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automated tests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→ Aurora PostgreSQL with Kiro  · 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at a glance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Kiro agent + steering + skills, deterministic tools, local-first evidence, optional AWS back ends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508760" cy="658368"/>
          </a:xfrm>
          <a:prstGeom prst="roundRect">
            <a:avLst>
              <a:gd name="adj" fmla="val 11111"/>
            </a:avLst>
          </a:prstGeom>
          <a:solidFill>
            <a:srgbClr val="0B2E3A"/>
          </a:solidFill>
          <a:ln w="9525">
            <a:solidFill>
              <a:srgbClr val="0B2E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545336"/>
            <a:ext cx="136245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240280" y="1508760"/>
            <a:ext cx="3048000" cy="658368"/>
          </a:xfrm>
          <a:prstGeom prst="roundRect">
            <a:avLst>
              <a:gd name="adj" fmla="val 11111"/>
            </a:avLst>
          </a:prstGeom>
          <a:solidFill>
            <a:srgbClr val="E8F1F3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13432" y="1545336"/>
            <a:ext cx="290169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engineer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Kiro IDE · kiro-cli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25440" y="1508760"/>
            <a:ext cx="3048000" cy="658368"/>
          </a:xfrm>
          <a:prstGeom prst="roundRect">
            <a:avLst>
              <a:gd name="adj" fmla="val 11111"/>
            </a:avLst>
          </a:prstGeom>
          <a:solidFill>
            <a:srgbClr val="E8F1F3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98592" y="1545336"/>
            <a:ext cx="290169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operator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kiro_migrate.sh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610600" y="1508760"/>
            <a:ext cx="3048000" cy="658368"/>
          </a:xfrm>
          <a:prstGeom prst="roundRect">
            <a:avLst>
              <a:gd name="adj" fmla="val 11111"/>
            </a:avLst>
          </a:prstGeom>
          <a:solidFill>
            <a:srgbClr val="E8F1F3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3752" y="1545336"/>
            <a:ext cx="290169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/ security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catalogs · audit log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949440" y="2167128"/>
            <a:ext cx="914" cy="182880"/>
          </a:xfrm>
          <a:prstGeom prst="line">
            <a:avLst/>
          </a:prstGeom>
          <a:noFill/>
          <a:ln w="22225">
            <a:solidFill>
              <a:srgbClr val="1F7A8C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8640" y="2350008"/>
            <a:ext cx="1508760" cy="658368"/>
          </a:xfrm>
          <a:prstGeom prst="roundRect">
            <a:avLst>
              <a:gd name="adj" fmla="val 11111"/>
            </a:avLst>
          </a:prstGeom>
          <a:solidFill>
            <a:srgbClr val="0B2E3A"/>
          </a:solidFill>
          <a:ln w="9525">
            <a:solidFill>
              <a:srgbClr val="0B2E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2386584"/>
            <a:ext cx="136245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Kiro agent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240280" y="2350008"/>
            <a:ext cx="4640580" cy="658368"/>
          </a:xfrm>
          <a:prstGeom prst="roundRect">
            <a:avLst>
              <a:gd name="adj" fmla="val 11111"/>
            </a:avLst>
          </a:prstGeom>
          <a:solidFill>
            <a:srgbClr val="DFF0E5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313432" y="2386584"/>
            <a:ext cx="449427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sql-migration-agent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· allow-lists · resources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018020" y="2350008"/>
            <a:ext cx="4640580" cy="658368"/>
          </a:xfrm>
          <a:prstGeom prst="roundRect">
            <a:avLst>
              <a:gd name="adj" fmla="val 11111"/>
            </a:avLst>
          </a:prstGeom>
          <a:solidFill>
            <a:srgbClr val="DFF0E5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091172" y="2386584"/>
            <a:ext cx="449427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 — outside the model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spawn · prompt · preToolUse guard · postToolUse · stop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949440" y="3008376"/>
            <a:ext cx="914" cy="182880"/>
          </a:xfrm>
          <a:prstGeom prst="line">
            <a:avLst/>
          </a:prstGeom>
          <a:noFill/>
          <a:ln w="22225">
            <a:solidFill>
              <a:srgbClr val="1F7A8C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48640" y="3191256"/>
            <a:ext cx="1508760" cy="658368"/>
          </a:xfrm>
          <a:prstGeom prst="roundRect">
            <a:avLst>
              <a:gd name="adj" fmla="val 11111"/>
            </a:avLst>
          </a:prstGeom>
          <a:solidFill>
            <a:srgbClr val="0B2E3A"/>
          </a:solidFill>
          <a:ln w="9525">
            <a:solidFill>
              <a:srgbClr val="0B2E3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3227832"/>
            <a:ext cx="136245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240280" y="3191256"/>
            <a:ext cx="3048000" cy="658368"/>
          </a:xfrm>
          <a:prstGeom prst="roundRect">
            <a:avLst>
              <a:gd name="adj" fmla="val 11111"/>
            </a:avLst>
          </a:prstGeom>
          <a:solidFill>
            <a:srgbClr val="E3F1E0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313432" y="3227832"/>
            <a:ext cx="290169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Steering (always)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rulebooks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25440" y="3191256"/>
            <a:ext cx="3048000" cy="658368"/>
          </a:xfrm>
          <a:prstGeom prst="roundRect">
            <a:avLst>
              <a:gd name="adj" fmla="val 11111"/>
            </a:avLst>
          </a:prstGeom>
          <a:solidFill>
            <a:srgbClr val="E3F1E0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98592" y="3227832"/>
            <a:ext cx="290169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(on demand)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skills · catalogs · examples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610600" y="3191256"/>
            <a:ext cx="3048000" cy="658368"/>
          </a:xfrm>
          <a:prstGeom prst="roundRect">
            <a:avLst>
              <a:gd name="adj" fmla="val 11111"/>
            </a:avLst>
          </a:prstGeom>
          <a:solidFill>
            <a:srgbClr val="E3F1E0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83752" y="3227832"/>
            <a:ext cx="290169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(optional)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· SQL Server · AWS docs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949440" y="3849624"/>
            <a:ext cx="914" cy="182880"/>
          </a:xfrm>
          <a:prstGeom prst="line">
            <a:avLst/>
          </a:prstGeom>
          <a:noFill/>
          <a:ln w="22225">
            <a:solidFill>
              <a:srgbClr val="1F7A8C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548640" y="4032504"/>
            <a:ext cx="1508760" cy="658368"/>
          </a:xfrm>
          <a:prstGeom prst="roundRect">
            <a:avLst>
              <a:gd name="adj" fmla="val 11111"/>
            </a:avLst>
          </a:prstGeom>
          <a:solidFill>
            <a:srgbClr val="0B2E3A"/>
          </a:solidFill>
          <a:ln w="9525">
            <a:solidFill>
              <a:srgbClr val="0B2E3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1792" y="4069080"/>
            <a:ext cx="136245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2240280" y="4032504"/>
            <a:ext cx="3048000" cy="658368"/>
          </a:xfrm>
          <a:prstGeom prst="roundRect">
            <a:avLst>
              <a:gd name="adj" fmla="val 11111"/>
            </a:avLst>
          </a:prstGeom>
          <a:solidFill>
            <a:srgbClr val="FDF1D6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313432" y="4069080"/>
            <a:ext cx="290169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infa_sql_tool.py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· check · inject · render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425440" y="4032504"/>
            <a:ext cx="3048000" cy="658368"/>
          </a:xfrm>
          <a:prstGeom prst="roundRect">
            <a:avLst>
              <a:gd name="adj" fmla="val 11111"/>
            </a:avLst>
          </a:prstGeom>
          <a:solidFill>
            <a:srgbClr val="FDF1D6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498592" y="4069080"/>
            <a:ext cx="290169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engine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pgtest.sh · coverage gate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610600" y="4032504"/>
            <a:ext cx="3048000" cy="658368"/>
          </a:xfrm>
          <a:prstGeom prst="roundRect">
            <a:avLst>
              <a:gd name="adj" fmla="val 11111"/>
            </a:avLst>
          </a:prstGeom>
          <a:solidFill>
            <a:srgbClr val="FDF1D6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683752" y="4069080"/>
            <a:ext cx="290169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migkit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· audit · services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949440" y="4690872"/>
            <a:ext cx="914" cy="182880"/>
          </a:xfrm>
          <a:prstGeom prst="line">
            <a:avLst/>
          </a:prstGeom>
          <a:noFill/>
          <a:ln w="22225">
            <a:solidFill>
              <a:srgbClr val="1F7A8C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548640" y="4873752"/>
            <a:ext cx="1508760" cy="658368"/>
          </a:xfrm>
          <a:prstGeom prst="roundRect">
            <a:avLst>
              <a:gd name="adj" fmla="val 11111"/>
            </a:avLst>
          </a:prstGeom>
          <a:solidFill>
            <a:srgbClr val="0B2E3A"/>
          </a:solidFill>
          <a:ln w="9525">
            <a:solidFill>
              <a:srgbClr val="0B2E3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1792" y="4910328"/>
            <a:ext cx="136245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240280" y="4873752"/>
            <a:ext cx="3048000" cy="658368"/>
          </a:xfrm>
          <a:prstGeom prst="roundRect">
            <a:avLst>
              <a:gd name="adj" fmla="val 11111"/>
            </a:avLst>
          </a:prstGeom>
          <a:solidFill>
            <a:srgbClr val="E9E4F5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313432" y="4910328"/>
            <a:ext cx="290169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source/ → generated/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T-SQL · XML · PL/pgSQL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425440" y="4873752"/>
            <a:ext cx="3048000" cy="658368"/>
          </a:xfrm>
          <a:prstGeom prst="roundRect">
            <a:avLst>
              <a:gd name="adj" fmla="val 11111"/>
            </a:avLst>
          </a:prstGeom>
          <a:solidFill>
            <a:srgbClr val="E9E4F5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98592" y="4910328"/>
            <a:ext cx="290169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PostgreSQL 17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DB · IAM auth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8610600" y="4873752"/>
            <a:ext cx="3048000" cy="658368"/>
          </a:xfrm>
          <a:prstGeom prst="roundRect">
            <a:avLst>
              <a:gd name="adj" fmla="val 11111"/>
            </a:avLst>
          </a:prstGeom>
          <a:solidFill>
            <a:srgbClr val="E9E4F5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683752" y="4910328"/>
            <a:ext cx="290169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logs/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· lineage · archive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6949440" y="5532120"/>
            <a:ext cx="914" cy="182880"/>
          </a:xfrm>
          <a:prstGeom prst="line">
            <a:avLst/>
          </a:prstGeom>
          <a:noFill/>
          <a:ln w="22225">
            <a:solidFill>
              <a:srgbClr val="1F7A8C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548640" y="5715000"/>
            <a:ext cx="1508760" cy="658368"/>
          </a:xfrm>
          <a:prstGeom prst="roundRect">
            <a:avLst>
              <a:gd name="adj" fmla="val 11111"/>
            </a:avLst>
          </a:prstGeom>
          <a:solidFill>
            <a:srgbClr val="0B2E3A"/>
          </a:solidFill>
          <a:ln w="9525">
            <a:solidFill>
              <a:srgbClr val="0B2E3A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21792" y="5751576"/>
            <a:ext cx="136245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2240280" y="5715000"/>
            <a:ext cx="1773936" cy="658368"/>
          </a:xfrm>
          <a:prstGeom prst="roundRect">
            <a:avLst>
              <a:gd name="adj" fmla="val 11111"/>
            </a:avLst>
          </a:prstGeom>
          <a:solidFill>
            <a:srgbClr val="FDE8D6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313432" y="5751576"/>
            <a:ext cx="1627632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 Logs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51376" y="5715000"/>
            <a:ext cx="1773936" cy="658368"/>
          </a:xfrm>
          <a:prstGeom prst="roundRect">
            <a:avLst>
              <a:gd name="adj" fmla="val 11111"/>
            </a:avLst>
          </a:prstGeom>
          <a:solidFill>
            <a:srgbClr val="FDE8D6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224528" y="5751576"/>
            <a:ext cx="1627632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DataZone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062472" y="5715000"/>
            <a:ext cx="1773936" cy="658368"/>
          </a:xfrm>
          <a:prstGeom prst="roundRect">
            <a:avLst>
              <a:gd name="adj" fmla="val 11111"/>
            </a:avLst>
          </a:prstGeom>
          <a:solidFill>
            <a:srgbClr val="FDE8D6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135624" y="5751576"/>
            <a:ext cx="1627632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7973568" y="5715000"/>
            <a:ext cx="1773936" cy="658368"/>
          </a:xfrm>
          <a:prstGeom prst="roundRect">
            <a:avLst>
              <a:gd name="adj" fmla="val 11111"/>
            </a:avLst>
          </a:prstGeom>
          <a:solidFill>
            <a:srgbClr val="FDE8D6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8046720" y="5751576"/>
            <a:ext cx="1627632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9884664" y="5715000"/>
            <a:ext cx="1773936" cy="658368"/>
          </a:xfrm>
          <a:prstGeom prst="roundRect">
            <a:avLst>
              <a:gd name="adj" fmla="val 11111"/>
            </a:avLst>
          </a:prstGeom>
          <a:solidFill>
            <a:srgbClr val="FDE8D6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957816" y="5751576"/>
            <a:ext cx="1627632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2240280" y="6446520"/>
            <a:ext cx="9418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Windows, Linux and macOS. AWS back ends are used when configured and reachable; otherwise the same data stays in logs/ and is synced later.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Steering: what "correct" means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Always-loaded rulebooks — generic and portable except the project file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74520"/>
            <a:ext cx="502920" cy="50292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§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828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migration.md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1508760" y="2221992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FDF1D6"/>
          </a:solidFill>
          <a:ln w="12700">
            <a:solidFill>
              <a:srgbClr val="FDF1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08760" y="22219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hard rules [H] · 11 parity rules [P]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24328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and syntax maps, transactions, errors, naming, validation checklist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72200" y="1600200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46520" y="1874520"/>
            <a:ext cx="502920" cy="502920"/>
          </a:xfrm>
          <a:prstGeom prst="ellipse">
            <a:avLst/>
          </a:prstGeom>
          <a:solidFill>
            <a:srgbClr val="E8710A"/>
          </a:solidFill>
          <a:ln w="12700">
            <a:solidFill>
              <a:srgbClr val="E871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4652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§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0" y="1828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informatica-etl.md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7132320" y="2221992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FDF1D6"/>
          </a:solidFill>
          <a:ln w="12700">
            <a:solidFill>
              <a:srgbClr val="FDF1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0" y="22219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rules [IE]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2624328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SQL lives in PowerCenter XML, invariants ($$params, ?ports?, :TU.), datatype and connection mapping, real export format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749040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22960" y="4023360"/>
            <a:ext cx="502920" cy="50292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§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508760" y="3977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security.md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1508760" y="4370832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FDF1D6"/>
          </a:solidFill>
          <a:ln w="12700">
            <a:solidFill>
              <a:srgbClr val="FDF1D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508760" y="437083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rules [S]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4773168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content, no secrets, least privilege, AWS read-only, one run id, logs are evidence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172200" y="3749040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46520" y="4023360"/>
            <a:ext cx="502920" cy="502920"/>
          </a:xfrm>
          <a:prstGeom prst="ellipse">
            <a:avLst/>
          </a:prstGeom>
          <a:solidFill>
            <a:srgbClr val="5B4B8A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4652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§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7132320" y="3977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project.md</a:t>
            </a:r>
            <a:endParaRPr lang="en-US" sz="1900" dirty="0"/>
          </a:p>
        </p:txBody>
      </p:sp>
      <p:sp>
        <p:nvSpPr>
          <p:cNvPr id="29" name="Shape 27"/>
          <p:cNvSpPr/>
          <p:nvPr/>
        </p:nvSpPr>
        <p:spPr>
          <a:xfrm>
            <a:off x="7132320" y="4370832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FDF1D6"/>
          </a:solidFill>
          <a:ln w="12700">
            <a:solidFill>
              <a:srgbClr val="FDF1D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132320" y="437083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values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446520" y="4773168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cluster and test database, folders, commands, AWS service status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24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Steering tells the model what to do; hooks, tools and the test engine check the critical rules again without relying on the model.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→ Aurora PostgreSQL with Kiro  · 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Skills: how one unit of work is done and proven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skill = numbered procedure + worked examples + corner-case catalog + scripts + self-test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411480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B9C8C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83080"/>
            <a:ext cx="3154680" cy="868680"/>
          </a:xfrm>
          <a:prstGeom prst="roundRect">
            <a:avLst>
              <a:gd name="adj" fmla="val 6316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01368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sql-conversion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T-SQL → PL/pgSQL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8346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F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8346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procedure steps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61188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F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1920240" y="36118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38912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F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1920240" y="43891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corner cases CC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52120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test engine · migkit · 290 tests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97680" y="1600200"/>
            <a:ext cx="3520440" cy="411480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B9C8C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480560" y="1783080"/>
            <a:ext cx="3154680" cy="868680"/>
          </a:xfrm>
          <a:prstGeom prst="roundRect">
            <a:avLst>
              <a:gd name="adj" fmla="val 6316"/>
            </a:avLst>
          </a:prstGeom>
          <a:solidFill>
            <a:srgbClr val="5B4B8A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0" y="1801368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sql-reporting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&amp; analytics SQL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26280" y="28346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5B4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0" y="28346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procedure steps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26280" y="361188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5B4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0" y="36118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patterns RP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26280" y="438912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5B4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0" y="43891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rules RQ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26280" y="52120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report functions · 88 tests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46720" y="1600200"/>
            <a:ext cx="3520440" cy="411480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B9C8C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29600" y="1783080"/>
            <a:ext cx="3154680" cy="868680"/>
          </a:xfrm>
          <a:prstGeom prst="roundRect">
            <a:avLst>
              <a:gd name="adj" fmla="val 6316"/>
            </a:avLst>
          </a:prstGeom>
          <a:solidFill>
            <a:srgbClr val="E8710A"/>
          </a:solidFill>
          <a:ln w="12700">
            <a:solidFill>
              <a:srgbClr val="E8710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21040" y="1801368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informatica-etl-conversion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PowerCenter XML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275320" y="28346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871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28" name="Text 26"/>
          <p:cNvSpPr txBox="1"/>
          <p:nvPr/>
        </p:nvSpPr>
        <p:spPr>
          <a:xfrm>
            <a:off x="9418320" y="28346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procedure steps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275320" y="361188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871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30" name="Text 28"/>
          <p:cNvSpPr txBox="1"/>
          <p:nvPr/>
        </p:nvSpPr>
        <p:spPr>
          <a:xfrm>
            <a:off x="9418320" y="36118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mappings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8275320" y="438912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871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3000" dirty="0"/>
          </a:p>
        </p:txBody>
      </p:sp>
      <p:sp>
        <p:nvSpPr>
          <p:cNvPr id="32" name="Text 30"/>
          <p:cNvSpPr txBox="1"/>
          <p:nvPr/>
        </p:nvSpPr>
        <p:spPr>
          <a:xfrm>
            <a:off x="9418320" y="43891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corner cases IC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8275320" y="52120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infa_sql_tool.py · public corpus · 65 tests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48640" y="589788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48640" y="589788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migration-assessment · MA-12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2788920" y="589788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788920" y="589788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sql-conversion-redshift · RS-52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029200" y="589788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029200" y="589788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sql-conversion-iceberg · IB-51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7269480" y="589788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269480" y="589788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schema-conformance · SC-22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9509760" y="589788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509760" y="589788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schema-change-propagation · CP-20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62636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five skills (Sept 2026) on the same engine: assessment, Redshift, Iceberg on S3, schema conformance, change propagation. Kiro loads a skill when the request matches its description, or on /skill-name.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→ Aurora PostgreSQL with Kiro  · 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agent works a request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converts; tools, tests and hooks decide what is allowed and what counts as done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691640" cy="1143000"/>
          </a:xfrm>
          <a:prstGeom prst="roundRect">
            <a:avLst>
              <a:gd name="adj" fmla="val 6400"/>
            </a:avLst>
          </a:prstGeom>
          <a:solidFill>
            <a:srgbClr val="E8F1F3"/>
          </a:solidFill>
          <a:ln w="9525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21792" y="1819656"/>
            <a:ext cx="1545336" cy="1069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"Convert source/usp_X.sql"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258568" y="2350008"/>
            <a:ext cx="164592" cy="914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441448" y="1783080"/>
            <a:ext cx="1691640" cy="1143000"/>
          </a:xfrm>
          <a:prstGeom prst="roundRect">
            <a:avLst>
              <a:gd name="adj" fmla="val 6400"/>
            </a:avLst>
          </a:prstGeom>
          <a:solidFill>
            <a:srgbClr val="E8F1F3"/>
          </a:solidFill>
          <a:ln w="9525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514600" y="1819656"/>
            <a:ext cx="1545336" cy="1069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input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· secrets · hidden text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151376" y="2350008"/>
            <a:ext cx="164592" cy="914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334256" y="1783080"/>
            <a:ext cx="1691640" cy="1143000"/>
          </a:xfrm>
          <a:prstGeom prst="roundRect">
            <a:avLst>
              <a:gd name="adj" fmla="val 6400"/>
            </a:avLst>
          </a:prstGeom>
          <a:solidFill>
            <a:srgbClr val="E8F1F3"/>
          </a:solidFill>
          <a:ln w="9525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407408" y="1819656"/>
            <a:ext cx="1545336" cy="1069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steering + skill + examples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044184" y="2350008"/>
            <a:ext cx="164592" cy="914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227064" y="1783080"/>
            <a:ext cx="1691640" cy="1143000"/>
          </a:xfrm>
          <a:prstGeom prst="roundRect">
            <a:avLst>
              <a:gd name="adj" fmla="val 6400"/>
            </a:avLst>
          </a:prstGeom>
          <a:solidFill>
            <a:srgbClr val="E8F1F3"/>
          </a:solidFill>
          <a:ln w="9525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300216" y="1819656"/>
            <a:ext cx="1545336" cy="1069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capability · invariants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936992" y="2350008"/>
            <a:ext cx="164592" cy="914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119872" y="1783080"/>
            <a:ext cx="1691640" cy="1143000"/>
          </a:xfrm>
          <a:prstGeom prst="roundRect">
            <a:avLst>
              <a:gd name="adj" fmla="val 6400"/>
            </a:avLst>
          </a:prstGeom>
          <a:solidFill>
            <a:srgbClr val="DFF0E5"/>
          </a:solidFill>
          <a:ln w="9525">
            <a:solidFill>
              <a:srgbClr val="DFF0E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193024" y="1819656"/>
            <a:ext cx="1545336" cy="1069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test DB · coverage gate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829800" y="2350008"/>
            <a:ext cx="164592" cy="914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012680" y="1783080"/>
            <a:ext cx="1691640" cy="1143000"/>
          </a:xfrm>
          <a:prstGeom prst="roundRect">
            <a:avLst>
              <a:gd name="adj" fmla="val 6400"/>
            </a:avLst>
          </a:prstGeom>
          <a:solidFill>
            <a:srgbClr val="E8F1F3"/>
          </a:solidFill>
          <a:ln w="9525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10085832" y="1819656"/>
            <a:ext cx="1545336" cy="1069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· findings · run id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48640" y="3429000"/>
            <a:ext cx="11064240" cy="2331720"/>
          </a:xfrm>
          <a:prstGeom prst="roundRect">
            <a:avLst>
              <a:gd name="adj" fmla="val 2353"/>
            </a:avLst>
          </a:prstGeom>
          <a:solidFill>
            <a:srgbClr val="0B2E3A"/>
          </a:solidFill>
          <a:ln w="12700">
            <a:solidFill>
              <a:srgbClr val="0B2E3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352044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Kiro hooks — run outside the model on every session, prompt and tool call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77240" y="4069080"/>
            <a:ext cx="2011680" cy="1463040"/>
          </a:xfrm>
          <a:prstGeom prst="roundRect">
            <a:avLst>
              <a:gd name="adj" fmla="val 5000"/>
            </a:avLst>
          </a:prstGeom>
          <a:solidFill>
            <a:srgbClr val="124E5E"/>
          </a:solidFill>
          <a:ln w="9525">
            <a:solidFill>
              <a:srgbClr val="124E5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50392" y="4105656"/>
            <a:ext cx="1865376" cy="1389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agentSpawn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CEB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run id · security notice · migration status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2944368" y="4069080"/>
            <a:ext cx="2011680" cy="1463040"/>
          </a:xfrm>
          <a:prstGeom prst="roundRect">
            <a:avLst>
              <a:gd name="adj" fmla="val 5000"/>
            </a:avLst>
          </a:prstGeom>
          <a:solidFill>
            <a:srgbClr val="124E5E"/>
          </a:solidFill>
          <a:ln w="9525">
            <a:solidFill>
              <a:srgbClr val="124E5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017520" y="4105656"/>
            <a:ext cx="1865376" cy="1389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userPromptSubmit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CEB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hash only · injection warning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111496" y="4069080"/>
            <a:ext cx="2011680" cy="1463040"/>
          </a:xfrm>
          <a:prstGeom prst="roundRect">
            <a:avLst>
              <a:gd name="adj" fmla="val 5000"/>
            </a:avLst>
          </a:prstGeom>
          <a:solidFill>
            <a:srgbClr val="F2A007"/>
          </a:solidFill>
          <a:ln w="9525">
            <a:solidFill>
              <a:srgbClr val="F2A00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184648" y="4105656"/>
            <a:ext cx="1865376" cy="1389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preToolUse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guard: allow or BLOCKED GRD-nn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278624" y="4069080"/>
            <a:ext cx="2011680" cy="1463040"/>
          </a:xfrm>
          <a:prstGeom prst="roundRect">
            <a:avLst>
              <a:gd name="adj" fmla="val 5000"/>
            </a:avLst>
          </a:prstGeom>
          <a:solidFill>
            <a:srgbClr val="124E5E"/>
          </a:solidFill>
          <a:ln w="9525">
            <a:solidFill>
              <a:srgbClr val="124E5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51776" y="4105656"/>
            <a:ext cx="1865376" cy="1389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postToolUse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CEB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redacted tool audit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9445752" y="4069080"/>
            <a:ext cx="2011680" cy="1463040"/>
          </a:xfrm>
          <a:prstGeom prst="roundRect">
            <a:avLst>
              <a:gd name="adj" fmla="val 5000"/>
            </a:avLst>
          </a:prstGeom>
          <a:solidFill>
            <a:srgbClr val="124E5E"/>
          </a:solidFill>
          <a:ln w="9525">
            <a:solidFill>
              <a:srgbClr val="124E5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518904" y="4105656"/>
            <a:ext cx="1865376" cy="1389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CEB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record · sync evidence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400800" y="2926080"/>
            <a:ext cx="914" cy="502920"/>
          </a:xfrm>
          <a:prstGeom prst="line">
            <a:avLst/>
          </a:prstGeom>
          <a:noFill/>
          <a:ln w="25400">
            <a:solidFill>
              <a:srgbClr val="F2A007"/>
            </a:solidFill>
            <a:prstDash val="dash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6492240" y="3017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tool call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→ Aurora PostgreSQL with Kiro  · 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bases and MCP servers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knowledge in the workspace; live facts through read-only MCP servers — all results treated as data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709160" y="2788920"/>
            <a:ext cx="2788920" cy="1371600"/>
          </a:xfrm>
          <a:prstGeom prst="roundRect">
            <a:avLst>
              <a:gd name="adj" fmla="val 5333"/>
            </a:avLst>
          </a:prstGeom>
          <a:solidFill>
            <a:srgbClr val="0B2E3A"/>
          </a:solidFill>
          <a:ln w="9525">
            <a:solidFill>
              <a:srgbClr val="0B2E3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4782312" y="2825496"/>
            <a:ext cx="2642616" cy="12984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sql-migration-agent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CFE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Kiro IDE / kiro-cli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937760" y="4800600"/>
            <a:ext cx="2331720" cy="777240"/>
          </a:xfrm>
          <a:prstGeom prst="roundRect">
            <a:avLst>
              <a:gd name="adj" fmla="val 9412"/>
            </a:avLst>
          </a:prstGeom>
          <a:solidFill>
            <a:srgbClr val="F2A007"/>
          </a:solidFill>
          <a:ln w="9525">
            <a:solidFill>
              <a:srgbClr val="F2A00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10912" y="4837176"/>
            <a:ext cx="2185416" cy="704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preToolUse guard</a:t>
            </a:r>
            <a:endParaRPr lang="en-US" sz="13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SQL · write mode blocked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099048" y="4160520"/>
            <a:ext cx="914" cy="640080"/>
          </a:xfrm>
          <a:prstGeom prst="line">
            <a:avLst/>
          </a:prstGeom>
          <a:noFill/>
          <a:ln w="22225">
            <a:solidFill>
              <a:srgbClr val="F2A007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548640" y="15544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bases (in the workspace)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011680"/>
            <a:ext cx="3566160" cy="676656"/>
          </a:xfrm>
          <a:prstGeom prst="roundRect">
            <a:avLst>
              <a:gd name="adj" fmla="val 10811"/>
            </a:avLst>
          </a:prstGeom>
          <a:solidFill>
            <a:srgbClr val="E3F1E0"/>
          </a:solidFill>
          <a:ln w="9525">
            <a:solidFill>
              <a:srgbClr val="E3F1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" y="2048256"/>
            <a:ext cx="3419856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Steering rulebooks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loaded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114800" y="2350008"/>
            <a:ext cx="594360" cy="1124712"/>
          </a:xfrm>
          <a:prstGeom prst="line">
            <a:avLst/>
          </a:prstGeom>
          <a:noFill/>
          <a:ln w="127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8640" y="2816352"/>
            <a:ext cx="3566160" cy="676656"/>
          </a:xfrm>
          <a:prstGeom prst="roundRect">
            <a:avLst>
              <a:gd name="adj" fmla="val 10811"/>
            </a:avLst>
          </a:prstGeom>
          <a:solidFill>
            <a:srgbClr val="E3F1E0"/>
          </a:solidFill>
          <a:ln w="9525">
            <a:solidFill>
              <a:srgbClr val="E3F1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2852928"/>
            <a:ext cx="3419856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procedures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on demand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114800" y="3154680"/>
            <a:ext cx="594360" cy="320040"/>
          </a:xfrm>
          <a:prstGeom prst="line">
            <a:avLst/>
          </a:prstGeom>
          <a:noFill/>
          <a:ln w="127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48640" y="3621024"/>
            <a:ext cx="3566160" cy="676656"/>
          </a:xfrm>
          <a:prstGeom prst="roundRect">
            <a:avLst>
              <a:gd name="adj" fmla="val 10811"/>
            </a:avLst>
          </a:prstGeom>
          <a:solidFill>
            <a:srgbClr val="E3F1E0"/>
          </a:solidFill>
          <a:ln w="9525">
            <a:solidFill>
              <a:srgbClr val="E3F1E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657600"/>
            <a:ext cx="3419856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 · IC · RQ/RP · SEC/LOG/SVC · GRD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 flipV="1">
            <a:off x="4114800" y="3474720"/>
            <a:ext cx="594360" cy="484632"/>
          </a:xfrm>
          <a:prstGeom prst="line">
            <a:avLst/>
          </a:prstGeom>
          <a:noFill/>
          <a:ln w="127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48640" y="4425696"/>
            <a:ext cx="3566160" cy="676656"/>
          </a:xfrm>
          <a:prstGeom prst="roundRect">
            <a:avLst>
              <a:gd name="adj" fmla="val 10811"/>
            </a:avLst>
          </a:prstGeom>
          <a:solidFill>
            <a:srgbClr val="E3F1E0"/>
          </a:solidFill>
          <a:ln w="9525">
            <a:solidFill>
              <a:srgbClr val="E3F1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1792" y="4462272"/>
            <a:ext cx="3419856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T-SQL · 15 reports · 5 mappings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 flipV="1">
            <a:off x="4114800" y="3474720"/>
            <a:ext cx="594360" cy="1289304"/>
          </a:xfrm>
          <a:prstGeom prst="line">
            <a:avLst/>
          </a:prstGeom>
          <a:noFill/>
          <a:ln w="127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48640" y="5230368"/>
            <a:ext cx="3566160" cy="676656"/>
          </a:xfrm>
          <a:prstGeom prst="roundRect">
            <a:avLst>
              <a:gd name="adj" fmla="val 10811"/>
            </a:avLst>
          </a:prstGeom>
          <a:solidFill>
            <a:srgbClr val="E3F1E0"/>
          </a:solidFill>
          <a:ln w="9525">
            <a:solidFill>
              <a:srgbClr val="E3F1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1792" y="5266944"/>
            <a:ext cx="3419856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export corpus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PowerCenter XML (HHS)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 flipV="1">
            <a:off x="4114800" y="3474720"/>
            <a:ext cx="594360" cy="2093976"/>
          </a:xfrm>
          <a:prstGeom prst="line">
            <a:avLst/>
          </a:prstGeom>
          <a:noFill/>
          <a:ln w="127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8001000" y="15544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71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MCP servers (optional, disabled by default)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8092440" y="2011680"/>
            <a:ext cx="3566160" cy="676656"/>
          </a:xfrm>
          <a:prstGeom prst="roundRect">
            <a:avLst>
              <a:gd name="adj" fmla="val 10811"/>
            </a:avLst>
          </a:prstGeom>
          <a:solidFill>
            <a:srgbClr val="FDE8D6"/>
          </a:solidFill>
          <a:ln w="9525">
            <a:solidFill>
              <a:srgbClr val="FDE8D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165592" y="2048256"/>
            <a:ext cx="3419856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MCP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schema · read-only query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 flipV="1">
            <a:off x="7498080" y="2350008"/>
            <a:ext cx="594360" cy="1124712"/>
          </a:xfrm>
          <a:prstGeom prst="line">
            <a:avLst/>
          </a:prstGeom>
          <a:noFill/>
          <a:ln w="12700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8092440" y="2816352"/>
            <a:ext cx="3566160" cy="676656"/>
          </a:xfrm>
          <a:prstGeom prst="roundRect">
            <a:avLst>
              <a:gd name="adj" fmla="val 10811"/>
            </a:avLst>
          </a:prstGeom>
          <a:solidFill>
            <a:srgbClr val="FDE8D6"/>
          </a:solidFill>
          <a:ln w="9525">
            <a:solidFill>
              <a:srgbClr val="FDE8D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165592" y="2852928"/>
            <a:ext cx="3419856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MCP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procedure text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 flipV="1">
            <a:off x="7498080" y="3154680"/>
            <a:ext cx="594360" cy="320040"/>
          </a:xfrm>
          <a:prstGeom prst="line">
            <a:avLst/>
          </a:prstGeom>
          <a:noFill/>
          <a:ln w="12700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092440" y="3621024"/>
            <a:ext cx="3566160" cy="676656"/>
          </a:xfrm>
          <a:prstGeom prst="roundRect">
            <a:avLst>
              <a:gd name="adj" fmla="val 10811"/>
            </a:avLst>
          </a:prstGeom>
          <a:solidFill>
            <a:srgbClr val="FDE8D6"/>
          </a:solidFill>
          <a:ln w="9525">
            <a:solidFill>
              <a:srgbClr val="FDE8D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165592" y="3657600"/>
            <a:ext cx="3419856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Knowledge MCP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features · regions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498080" y="3474720"/>
            <a:ext cx="594360" cy="484632"/>
          </a:xfrm>
          <a:prstGeom prst="line">
            <a:avLst/>
          </a:prstGeom>
          <a:noFill/>
          <a:ln w="12700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092440" y="4425696"/>
            <a:ext cx="3566160" cy="676656"/>
          </a:xfrm>
          <a:prstGeom prst="roundRect">
            <a:avLst>
              <a:gd name="adj" fmla="val 10811"/>
            </a:avLst>
          </a:prstGeom>
          <a:solidFill>
            <a:srgbClr val="FDE8D6"/>
          </a:solidFill>
          <a:ln w="9525">
            <a:solidFill>
              <a:srgbClr val="FDE8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165592" y="4462272"/>
            <a:ext cx="3419856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Documentation MCP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· read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7498080" y="3474720"/>
            <a:ext cx="594360" cy="1289304"/>
          </a:xfrm>
          <a:prstGeom prst="line">
            <a:avLst/>
          </a:prstGeom>
          <a:noFill/>
          <a:ln w="12700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8092440" y="5230368"/>
            <a:ext cx="3566160" cy="676656"/>
          </a:xfrm>
          <a:prstGeom prst="roundRect">
            <a:avLst>
              <a:gd name="adj" fmla="val 10811"/>
            </a:avLst>
          </a:prstGeom>
          <a:solidFill>
            <a:srgbClr val="FDE8D6"/>
          </a:solidFill>
          <a:ln w="9525">
            <a:solidFill>
              <a:srgbClr val="FDE8D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165592" y="5266944"/>
            <a:ext cx="3419856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API MCP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READ_OPERATIONS_ONLY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7498080" y="3474720"/>
            <a:ext cx="594360" cy="2093976"/>
          </a:xfrm>
          <a:prstGeom prst="line">
            <a:avLst/>
          </a:prstGeom>
          <a:noFill/>
          <a:ln w="12700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41" name="Text 39"/>
          <p:cNvSpPr txBox="1"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suites always run through the shell (psql meta-commands); MCP is for facts, not for proof.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→ Aurora PostgreSQL with Kiro  · 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Informatica ETL: exact where it must be exact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handles XML, encodings, integrity and lineage; the model converts only the SQL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184148" y="1691640"/>
            <a:ext cx="420624" cy="420624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4148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240280"/>
            <a:ext cx="1691640" cy="1234440"/>
          </a:xfrm>
          <a:prstGeom prst="roundRect">
            <a:avLst>
              <a:gd name="adj" fmla="val 5926"/>
            </a:avLst>
          </a:prstGeom>
          <a:solidFill>
            <a:srgbClr val="FDE8D6"/>
          </a:solidFill>
          <a:ln w="9525">
            <a:solidFill>
              <a:srgbClr val="FDE8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21792" y="2276856"/>
            <a:ext cx="1545336" cy="1161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XML parse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· manifest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258568" y="2852928"/>
            <a:ext cx="146304" cy="914"/>
          </a:xfrm>
          <a:prstGeom prst="line">
            <a:avLst/>
          </a:prstGeom>
          <a:noFill/>
          <a:ln w="25400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058668" y="1691640"/>
            <a:ext cx="420624" cy="420624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58668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423160" y="2240280"/>
            <a:ext cx="1691640" cy="1234440"/>
          </a:xfrm>
          <a:prstGeom prst="roundRect">
            <a:avLst>
              <a:gd name="adj" fmla="val 5926"/>
            </a:avLst>
          </a:prstGeom>
          <a:solidFill>
            <a:srgbClr val="FDE8D6"/>
          </a:solidFill>
          <a:ln w="9525">
            <a:solidFill>
              <a:srgbClr val="FDE8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2496312" y="2276856"/>
            <a:ext cx="1545336" cy="1161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SQL →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files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133088" y="2852928"/>
            <a:ext cx="146304" cy="914"/>
          </a:xfrm>
          <a:prstGeom prst="line">
            <a:avLst/>
          </a:prstGeom>
          <a:noFill/>
          <a:ln w="25400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933188" y="1691640"/>
            <a:ext cx="420624" cy="420624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933188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297680" y="2240280"/>
            <a:ext cx="1691640" cy="1234440"/>
          </a:xfrm>
          <a:prstGeom prst="roundRect">
            <a:avLst>
              <a:gd name="adj" fmla="val 5926"/>
            </a:avLst>
          </a:prstGeom>
          <a:solidFill>
            <a:srgbClr val="FDE8D6"/>
          </a:solidFill>
          <a:ln w="9525">
            <a:solidFill>
              <a:srgbClr val="FDE8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4370832" y="2276856"/>
            <a:ext cx="1545336" cy="1161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Informatica invariants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leftover T-SQL · SEC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007608" y="2852928"/>
            <a:ext cx="146304" cy="914"/>
          </a:xfrm>
          <a:prstGeom prst="line">
            <a:avLst/>
          </a:prstGeom>
          <a:noFill/>
          <a:ln w="25400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807708" y="1691640"/>
            <a:ext cx="420624" cy="420624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07708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172200" y="2240280"/>
            <a:ext cx="1691640" cy="1234440"/>
          </a:xfrm>
          <a:prstGeom prst="roundRect">
            <a:avLst>
              <a:gd name="adj" fmla="val 5926"/>
            </a:avLst>
          </a:prstGeom>
          <a:solidFill>
            <a:srgbClr val="FDE8D6"/>
          </a:solidFill>
          <a:ln w="9525">
            <a:solidFill>
              <a:srgbClr val="FDE8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245352" y="2276856"/>
            <a:ext cx="1545336" cy="1161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 XML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· lineage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882128" y="2852928"/>
            <a:ext cx="146304" cy="914"/>
          </a:xfrm>
          <a:prstGeom prst="line">
            <a:avLst/>
          </a:prstGeom>
          <a:noFill/>
          <a:ln w="25400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8682228" y="1691640"/>
            <a:ext cx="420624" cy="420624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2228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046720" y="2240280"/>
            <a:ext cx="1691640" cy="1234440"/>
          </a:xfrm>
          <a:prstGeom prst="roundRect">
            <a:avLst>
              <a:gd name="adj" fmla="val 5926"/>
            </a:avLst>
          </a:prstGeom>
          <a:solidFill>
            <a:srgbClr val="FDE8D6"/>
          </a:solidFill>
          <a:ln w="9525">
            <a:solidFill>
              <a:srgbClr val="FDE8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119872" y="2276856"/>
            <a:ext cx="1545336" cy="1161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.prm values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parameters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9756648" y="2852928"/>
            <a:ext cx="146304" cy="914"/>
          </a:xfrm>
          <a:prstGeom prst="line">
            <a:avLst/>
          </a:prstGeom>
          <a:noFill/>
          <a:ln w="25400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0556748" y="1691640"/>
            <a:ext cx="420624" cy="420624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556748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9921240" y="2240280"/>
            <a:ext cx="1691640" cy="1234440"/>
          </a:xfrm>
          <a:prstGeom prst="roundRect">
            <a:avLst>
              <a:gd name="adj" fmla="val 5926"/>
            </a:avLst>
          </a:prstGeom>
          <a:solidFill>
            <a:srgbClr val="FDE8D6"/>
          </a:solidFill>
          <a:ln w="9525">
            <a:solidFill>
              <a:srgbClr val="FDE8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9994392" y="2276856"/>
            <a:ext cx="1545336" cy="1161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test DB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effects verified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48640" y="3886200"/>
            <a:ext cx="5440680" cy="960120"/>
          </a:xfrm>
          <a:prstGeom prst="roundRect">
            <a:avLst>
              <a:gd name="adj" fmla="val 5714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31520" y="3931920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export format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Windows-1252 / ISO-8859-1, CRLF, NAME ="…" spacing — unchanged exports round-trip byte for byte (14 public exports verified)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72200" y="3886200"/>
            <a:ext cx="5440680" cy="960120"/>
          </a:xfrm>
          <a:prstGeom prst="roundRect">
            <a:avLst>
              <a:gd name="adj" fmla="val 5714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55080" y="3931920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SQL Server jobs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CTEs, window functions, OUTER APPLY, lookup and update overrides, Pre/Post SQL batches (SET NOCOUNT, IF OBJECT_ID, EXEC)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548640" y="4983480"/>
            <a:ext cx="5440680" cy="960120"/>
          </a:xfrm>
          <a:prstGeom prst="roundRect">
            <a:avLst>
              <a:gd name="adj" fmla="val 5714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1520" y="5029200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SQL values change; export hash checked; CRCVALUE-protected elements never modified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6172200" y="4983480"/>
            <a:ext cx="5440680" cy="960120"/>
          </a:xfrm>
          <a:prstGeom prst="roundRect">
            <a:avLst>
              <a:gd name="adj" fmla="val 5714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55080" y="5029200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OpenLineage event per conversion: source/target tables, SHA-256 of every SQL value, run id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→ Aurora PostgreSQL with Kiro  · 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guardrails: defence in depth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 are untrusted; each layer holds even if the one above is bypassed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731520"/>
          </a:xfrm>
          <a:prstGeom prst="roundRect">
            <a:avLst>
              <a:gd name="adj" fmla="val 7500"/>
            </a:avLst>
          </a:prstGeom>
          <a:solidFill>
            <a:srgbClr val="F9E0DD"/>
          </a:solidFill>
          <a:ln w="12700">
            <a:solidFill>
              <a:srgbClr val="F9E0D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5448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 Input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920240" y="1554480"/>
            <a:ext cx="5897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Scanner: prompt injection · hidden Unicode · secrets · dangerous SQL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XML: no entities, DTD subsets or remote DTDs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708660" y="2404872"/>
            <a:ext cx="7086600" cy="731520"/>
          </a:xfrm>
          <a:prstGeom prst="roundRect">
            <a:avLst>
              <a:gd name="adj" fmla="val 7500"/>
            </a:avLst>
          </a:prstGeom>
          <a:solidFill>
            <a:srgbClr val="F9E0DD"/>
          </a:solidFill>
          <a:ln w="12700">
            <a:solidFill>
              <a:srgbClr val="F9E0D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45820" y="2404872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 Agent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080260" y="2404872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Allow-lists for commands and write paths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 hook GRD-01..11 blocks credentials, exfiltration, tampering, AWS changes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68680" y="3255264"/>
            <a:ext cx="6766560" cy="731520"/>
          </a:xfrm>
          <a:prstGeom prst="roundRect">
            <a:avLst>
              <a:gd name="adj" fmla="val 7500"/>
            </a:avLst>
          </a:prstGeom>
          <a:solidFill>
            <a:srgbClr val="F9E0DD"/>
          </a:solidFill>
          <a:ln w="12700">
            <a:solidFill>
              <a:srgbClr val="F9E0D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5840" y="3255264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 Tools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240280" y="3255264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may not add capabilities (COPY PROGRAM, dblink, ALTER SYSTEM…)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parameter values · paths inside the folder · XML integrity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028700" y="4105656"/>
            <a:ext cx="6446520" cy="731520"/>
          </a:xfrm>
          <a:prstGeom prst="roundRect">
            <a:avLst>
              <a:gd name="adj" fmla="val 7500"/>
            </a:avLst>
          </a:prstGeom>
          <a:solidFill>
            <a:srgbClr val="F9E0DD"/>
          </a:solidFill>
          <a:ln w="12700">
            <a:solidFill>
              <a:srgbClr val="F9E0D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65860" y="4105656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 Database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400300" y="4105656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preflight blocks shell escapes and secrets in test files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databases only · no superuser · 15-minute IAM tokens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188720" y="4956048"/>
            <a:ext cx="6126480" cy="731520"/>
          </a:xfrm>
          <a:prstGeom prst="roundRect">
            <a:avLst>
              <a:gd name="adj" fmla="val 7500"/>
            </a:avLst>
          </a:prstGeom>
          <a:solidFill>
            <a:srgbClr val="E9E4F5"/>
          </a:solidFill>
          <a:ln w="12700">
            <a:solidFill>
              <a:srgbClr val="E9E4F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325880" y="4956048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4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 Evidence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560320" y="4956048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Redacted, hash-chained audit log · prompts stored as hashes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 and S3 Object Lock when configured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229600" y="1554480"/>
            <a:ext cx="3429000" cy="4160520"/>
          </a:xfrm>
          <a:prstGeom prst="roundRect">
            <a:avLst>
              <a:gd name="adj" fmla="val 1600"/>
            </a:avLst>
          </a:prstGeom>
          <a:solidFill>
            <a:srgbClr val="0B2E3A"/>
          </a:solidFill>
          <a:ln w="12700">
            <a:solidFill>
              <a:srgbClr val="0B2E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0" y="16459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0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OWASP LLM Top 10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412480" y="21488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LLM01 Prompt injection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CFE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scanning · notices · guard · Bedrock filter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412480" y="30175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LLM02 Sensitive info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CFE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blocks · redaction · Secrets Manager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412480" y="38862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LLM05 Output handling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CFE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diff · preflight · safe values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8412480" y="47548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LLM06 Excessive agency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CFE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allow-lists · AWS read-only · test DB only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5943600"/>
            <a:ext cx="2331720" cy="310896"/>
          </a:xfrm>
          <a:prstGeom prst="roundRect">
            <a:avLst>
              <a:gd name="adj" fmla="val 50000"/>
            </a:avLst>
          </a:prstGeom>
          <a:solidFill>
            <a:srgbClr val="F9E0DD"/>
          </a:solidFill>
          <a:ln w="12700">
            <a:solidFill>
              <a:srgbClr val="F9E0D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8640" y="59436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2 · hook blocked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063240" y="5943600"/>
            <a:ext cx="2331720" cy="310896"/>
          </a:xfrm>
          <a:prstGeom prst="roundRect">
            <a:avLst>
              <a:gd name="adj" fmla="val 50000"/>
            </a:avLst>
          </a:prstGeom>
          <a:solidFill>
            <a:srgbClr val="F9E0DD"/>
          </a:solidFill>
          <a:ln w="12700">
            <a:solidFill>
              <a:srgbClr val="F9E0D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063240" y="59436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3 · tool refused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577840" y="5943600"/>
            <a:ext cx="2331720" cy="310896"/>
          </a:xfrm>
          <a:prstGeom prst="roundRect">
            <a:avLst>
              <a:gd name="adj" fmla="val 50000"/>
            </a:avLst>
          </a:prstGeom>
          <a:solidFill>
            <a:srgbClr val="F9E0DD"/>
          </a:solidFill>
          <a:ln w="12700">
            <a:solidFill>
              <a:srgbClr val="F9E0D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577840" y="59436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4 · test preflight refused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→ Aurora PostgreSQL with Kiro  · 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Audit, correlation and lineage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run id connects the Kiro session, every tool, every database session and every lineage record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97280" y="2395728"/>
            <a:ext cx="9966960" cy="0"/>
          </a:xfrm>
          <a:prstGeom prst="line">
            <a:avLst/>
          </a:prstGeom>
          <a:noFill/>
          <a:ln w="38100">
            <a:solidFill>
              <a:srgbClr val="1F7A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99032" y="2194560"/>
            <a:ext cx="402336" cy="402336"/>
          </a:xfrm>
          <a:prstGeom prst="ellipse">
            <a:avLst/>
          </a:prstGeom>
          <a:solidFill>
            <a:srgbClr val="F2A007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7889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E8F1F3"/>
          </a:solidFill>
          <a:ln w="9525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21792" y="2825496"/>
            <a:ext cx="1956816" cy="1069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starts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agentSpawn or run_tests.sh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the run id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85032" y="2194560"/>
            <a:ext cx="402336" cy="402336"/>
          </a:xfrm>
          <a:prstGeom prst="ellipse">
            <a:avLst/>
          </a:prstGeom>
          <a:solidFill>
            <a:srgbClr val="F2A007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34640" y="27889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E8F1F3"/>
          </a:solidFill>
          <a:ln w="9525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907792" y="2825496"/>
            <a:ext cx="1956816" cy="1069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inherit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MIGRATION_RUN_ID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W3C traceparent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971032" y="2194560"/>
            <a:ext cx="402336" cy="402336"/>
          </a:xfrm>
          <a:prstGeom prst="ellipse">
            <a:avLst/>
          </a:prstGeom>
          <a:solidFill>
            <a:srgbClr val="F2A007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20640" y="27889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E8F1F3"/>
          </a:solidFill>
          <a:ln w="9525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5193792" y="2825496"/>
            <a:ext cx="1956816" cy="1069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records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· UTC ms timestamps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hash-chained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57032" y="2194560"/>
            <a:ext cx="402336" cy="402336"/>
          </a:xfrm>
          <a:prstGeom prst="ellipse">
            <a:avLst/>
          </a:prstGeom>
          <a:solidFill>
            <a:srgbClr val="F2A007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06640" y="27889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E8F1F3"/>
          </a:solidFill>
          <a:ln w="9525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479792" y="2825496"/>
            <a:ext cx="1956816" cy="1069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sessions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application_name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mig:&lt;manifest&gt;:&lt;run8&gt;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543032" y="2194560"/>
            <a:ext cx="402336" cy="402336"/>
          </a:xfrm>
          <a:prstGeom prst="ellipse">
            <a:avLst/>
          </a:prstGeom>
          <a:solidFill>
            <a:srgbClr val="F2A007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92640" y="27889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E8F1F3"/>
          </a:solidFill>
          <a:ln w="9525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765792" y="2825496"/>
            <a:ext cx="1956816" cy="1069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OpenLineage event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SHA-256 hashes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251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audit record carries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48640" y="47091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7091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 (UTC, ms)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337560" y="47091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337560" y="47091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26480" y="47091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126480" y="47091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915400" y="47091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915400" y="47091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run_id = trace_id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51663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51663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 / parent span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337560" y="51663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337560" y="51663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· host · user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126480" y="51663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126480" y="51663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redacted attributes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915400" y="51663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915400" y="51663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 · prev_hash · hash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48640" y="566928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0B2E3A"/>
          </a:solidFill>
          <a:ln w="9525">
            <a:solidFill>
              <a:srgbClr val="0B2E3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21792" y="5705856"/>
            <a:ext cx="10917936" cy="4297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endParaRPr lang="en-US" dirty="0"/>
          </a:p>
        </p:txBody>
      </p:sp>
      <p:sp>
        <p:nvSpPr>
          <p:cNvPr id="39" name="Text 37"/>
          <p:cNvSpPr txBox="1"/>
          <p:nvPr/>
        </p:nvSpPr>
        <p:spPr>
          <a:xfrm>
            <a:off x="731520" y="566928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0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Troubleshoot: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audit.py tail --run &lt;run8&gt;   ·   audit.py verify (tamper check)   ·   services.py status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→ Aurora PostgreSQL with Kiro  · 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 service interaction — with local fallback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concern resolves on its own: AWS when configured and reachable, the local store otherwise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377440" cy="3429000"/>
          </a:xfrm>
          <a:prstGeom prst="roundRect">
            <a:avLst>
              <a:gd name="adj" fmla="val 3077"/>
            </a:avLst>
          </a:prstGeom>
          <a:solidFill>
            <a:srgbClr val="E8F1F3"/>
          </a:solidFill>
          <a:ln w="9525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21792" y="1865376"/>
            <a:ext cx="2231136" cy="3355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 components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infa_sql_tool.py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pgtest.sh · run_tests.sh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Kiro hooks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kiro_migrate.sh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520440" y="2697480"/>
            <a:ext cx="2286000" cy="1828800"/>
          </a:xfrm>
          <a:prstGeom prst="roundRect">
            <a:avLst>
              <a:gd name="adj" fmla="val 4000"/>
            </a:avLst>
          </a:prstGeom>
          <a:solidFill>
            <a:srgbClr val="0B2E3A"/>
          </a:solidFill>
          <a:ln w="9525">
            <a:solidFill>
              <a:srgbClr val="0B2E3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593592" y="2734056"/>
            <a:ext cx="2139696" cy="1755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migkit services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CFE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per concern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CFE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· aws · local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CFE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 cached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3611880"/>
            <a:ext cx="594360" cy="914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6583680" y="14630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71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 (when configured)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464040" y="1463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fallback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0" y="1828800"/>
            <a:ext cx="2606040" cy="566928"/>
          </a:xfrm>
          <a:prstGeom prst="roundRect">
            <a:avLst>
              <a:gd name="adj" fmla="val 12903"/>
            </a:avLst>
          </a:prstGeom>
          <a:solidFill>
            <a:srgbClr val="FDE8D6"/>
          </a:solidFill>
          <a:ln w="9525">
            <a:solidFill>
              <a:srgbClr val="FDE8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56832" y="1865376"/>
            <a:ext cx="2459736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CloudWatch Logs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464040" y="1828800"/>
            <a:ext cx="2194560" cy="566928"/>
          </a:xfrm>
          <a:prstGeom prst="roundRect">
            <a:avLst>
              <a:gd name="adj" fmla="val 12903"/>
            </a:avLst>
          </a:prstGeom>
          <a:solidFill>
            <a:srgbClr val="E3F1E0"/>
          </a:solidFill>
          <a:ln w="9525">
            <a:solidFill>
              <a:srgbClr val="E3F1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537192" y="1865376"/>
            <a:ext cx="2048256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logs/audit/*.jsonl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 flipV="1">
            <a:off x="5806440" y="2121408"/>
            <a:ext cx="777240" cy="1490472"/>
          </a:xfrm>
          <a:prstGeom prst="line">
            <a:avLst/>
          </a:prstGeom>
          <a:noFill/>
          <a:ln w="15875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189720" y="2112264"/>
            <a:ext cx="274320" cy="914"/>
          </a:xfrm>
          <a:prstGeom prst="line">
            <a:avLst/>
          </a:prstGeom>
          <a:noFill/>
          <a:ln w="15875">
            <a:solidFill>
              <a:srgbClr val="1F7A8C"/>
            </a:solidFill>
            <a:prstDash val="dash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583680" y="2532888"/>
            <a:ext cx="2606040" cy="566928"/>
          </a:xfrm>
          <a:prstGeom prst="roundRect">
            <a:avLst>
              <a:gd name="adj" fmla="val 12903"/>
            </a:avLst>
          </a:prstGeom>
          <a:solidFill>
            <a:srgbClr val="FDE8D6"/>
          </a:solidFill>
          <a:ln w="9525">
            <a:solidFill>
              <a:srgbClr val="FDE8D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56832" y="2569464"/>
            <a:ext cx="2459736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DataZone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464040" y="2532888"/>
            <a:ext cx="2194560" cy="566928"/>
          </a:xfrm>
          <a:prstGeom prst="roundRect">
            <a:avLst>
              <a:gd name="adj" fmla="val 12903"/>
            </a:avLst>
          </a:prstGeom>
          <a:solidFill>
            <a:srgbClr val="E3F1E0"/>
          </a:solidFill>
          <a:ln w="9525">
            <a:solidFill>
              <a:srgbClr val="E3F1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537192" y="2569464"/>
            <a:ext cx="2048256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logs/state/lineage.jsonl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 flipV="1">
            <a:off x="5806440" y="2825496"/>
            <a:ext cx="777240" cy="786384"/>
          </a:xfrm>
          <a:prstGeom prst="line">
            <a:avLst/>
          </a:prstGeom>
          <a:noFill/>
          <a:ln w="15875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189720" y="2816352"/>
            <a:ext cx="274320" cy="914"/>
          </a:xfrm>
          <a:prstGeom prst="line">
            <a:avLst/>
          </a:prstGeom>
          <a:noFill/>
          <a:ln w="15875">
            <a:solidFill>
              <a:srgbClr val="1F7A8C"/>
            </a:solidFill>
            <a:prstDash val="dash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583680" y="3236976"/>
            <a:ext cx="2606040" cy="566928"/>
          </a:xfrm>
          <a:prstGeom prst="roundRect">
            <a:avLst>
              <a:gd name="adj" fmla="val 12903"/>
            </a:avLst>
          </a:prstGeom>
          <a:solidFill>
            <a:srgbClr val="FDE8D6"/>
          </a:solidFill>
          <a:ln w="9525">
            <a:solidFill>
              <a:srgbClr val="FDE8D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56832" y="3273552"/>
            <a:ext cx="2459736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 Guardrails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464040" y="3236976"/>
            <a:ext cx="2194560" cy="566928"/>
          </a:xfrm>
          <a:prstGeom prst="roundRect">
            <a:avLst>
              <a:gd name="adj" fmla="val 12903"/>
            </a:avLst>
          </a:prstGeom>
          <a:solidFill>
            <a:srgbClr val="E3F1E0"/>
          </a:solidFill>
          <a:ln w="9525">
            <a:solidFill>
              <a:srgbClr val="E3F1E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537192" y="3273552"/>
            <a:ext cx="2048256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scanner (always)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 flipV="1">
            <a:off x="5806440" y="3529584"/>
            <a:ext cx="777240" cy="82296"/>
          </a:xfrm>
          <a:prstGeom prst="line">
            <a:avLst/>
          </a:prstGeom>
          <a:noFill/>
          <a:ln w="15875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189720" y="3520440"/>
            <a:ext cx="274320" cy="914"/>
          </a:xfrm>
          <a:prstGeom prst="line">
            <a:avLst/>
          </a:prstGeom>
          <a:noFill/>
          <a:ln w="15875">
            <a:solidFill>
              <a:srgbClr val="1F7A8C"/>
            </a:solidFill>
            <a:prstDash val="dash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6583680" y="3941064"/>
            <a:ext cx="2606040" cy="566928"/>
          </a:xfrm>
          <a:prstGeom prst="roundRect">
            <a:avLst>
              <a:gd name="adj" fmla="val 12903"/>
            </a:avLst>
          </a:prstGeom>
          <a:solidFill>
            <a:srgbClr val="FDE8D6"/>
          </a:solidFill>
          <a:ln w="9525">
            <a:solidFill>
              <a:srgbClr val="FDE8D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656832" y="3977640"/>
            <a:ext cx="2459736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S3 + Object Lock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464040" y="3941064"/>
            <a:ext cx="2194560" cy="566928"/>
          </a:xfrm>
          <a:prstGeom prst="roundRect">
            <a:avLst>
              <a:gd name="adj" fmla="val 12903"/>
            </a:avLst>
          </a:prstGeom>
          <a:solidFill>
            <a:srgbClr val="E3F1E0"/>
          </a:solidFill>
          <a:ln w="9525">
            <a:solidFill>
              <a:srgbClr val="E3F1E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537192" y="3977640"/>
            <a:ext cx="2048256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logs/archive/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806440" y="3611880"/>
            <a:ext cx="777240" cy="621792"/>
          </a:xfrm>
          <a:prstGeom prst="line">
            <a:avLst/>
          </a:prstGeom>
          <a:noFill/>
          <a:ln w="15875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9189720" y="4224528"/>
            <a:ext cx="274320" cy="914"/>
          </a:xfrm>
          <a:prstGeom prst="line">
            <a:avLst/>
          </a:prstGeom>
          <a:noFill/>
          <a:ln w="15875">
            <a:solidFill>
              <a:srgbClr val="1F7A8C"/>
            </a:solidFill>
            <a:prstDash val="dash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6583680" y="4645152"/>
            <a:ext cx="2606040" cy="566928"/>
          </a:xfrm>
          <a:prstGeom prst="roundRect">
            <a:avLst>
              <a:gd name="adj" fmla="val 12903"/>
            </a:avLst>
          </a:prstGeom>
          <a:solidFill>
            <a:srgbClr val="FDE8D6"/>
          </a:solidFill>
          <a:ln w="9525">
            <a:solidFill>
              <a:srgbClr val="FDE8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656832" y="4681728"/>
            <a:ext cx="2459736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Secrets Manager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464040" y="4645152"/>
            <a:ext cx="2194560" cy="566928"/>
          </a:xfrm>
          <a:prstGeom prst="roundRect">
            <a:avLst>
              <a:gd name="adj" fmla="val 12903"/>
            </a:avLst>
          </a:prstGeom>
          <a:solidFill>
            <a:srgbClr val="E3F1E0"/>
          </a:solidFill>
          <a:ln w="9525">
            <a:solidFill>
              <a:srgbClr val="E3F1E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537192" y="4681728"/>
            <a:ext cx="2048256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token / environment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806440" y="3611880"/>
            <a:ext cx="777240" cy="1325880"/>
          </a:xfrm>
          <a:prstGeom prst="line">
            <a:avLst/>
          </a:prstGeom>
          <a:noFill/>
          <a:ln w="15875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9189720" y="4928616"/>
            <a:ext cx="274320" cy="914"/>
          </a:xfrm>
          <a:prstGeom prst="line">
            <a:avLst/>
          </a:prstGeom>
          <a:noFill/>
          <a:ln w="15875">
            <a:solidFill>
              <a:srgbClr val="1F7A8C"/>
            </a:solidFill>
            <a:prstDash val="dash"/>
            <a:tailEnd type="triangle"/>
          </a:ln>
        </p:spPr>
      </p:sp>
      <p:sp>
        <p:nvSpPr>
          <p:cNvPr id="41" name="Text 39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→ Aurora PostgreSQL with Kiro  ·  12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8640" y="5458968"/>
            <a:ext cx="219456" cy="219456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545896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•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914400" y="541324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created automatically — setup commands and a least-privilege IAM policy are provided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548640" y="5788152"/>
            <a:ext cx="219456" cy="219456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48640" y="57881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•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914400" y="5742432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is logged (services.fallback) and records sync when AWS becomes available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548640" y="6117336"/>
            <a:ext cx="219456" cy="219456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48640" y="611733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•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914400" y="6071616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 handled: CloudWatch batch size and age, DataZone event size, guardrail budget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Proof: 674 automated checks, one gate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full run on Aurora PostgreSQL 17.7 — 0 failures, every catalog rule covered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08760"/>
          <a:ext cx="66751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589520" y="164592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Coverage gate: no rule without a test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589520" y="2194560"/>
            <a:ext cx="4069080" cy="658368"/>
          </a:xfrm>
          <a:prstGeom prst="roundRect">
            <a:avLst>
              <a:gd name="adj" fmla="val 8333"/>
            </a:avLst>
          </a:prstGeom>
          <a:solidFill>
            <a:srgbClr val="DFF0E5"/>
          </a:solidFill>
          <a:ln w="12700">
            <a:solidFill>
              <a:srgbClr val="DFF0E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680960" y="2194560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732520" y="219456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· P · CC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rules · 86 corner cases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589520" y="2971800"/>
            <a:ext cx="4069080" cy="658368"/>
          </a:xfrm>
          <a:prstGeom prst="roundRect">
            <a:avLst>
              <a:gd name="adj" fmla="val 8333"/>
            </a:avLst>
          </a:prstGeom>
          <a:solidFill>
            <a:srgbClr val="DFF0E5"/>
          </a:solidFill>
          <a:ln w="12700">
            <a:solidFill>
              <a:srgbClr val="DFF0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680960" y="2971800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732520" y="297180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 · RP · IC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rules · 15 patterns · 42 cases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589520" y="3749040"/>
            <a:ext cx="4069080" cy="658368"/>
          </a:xfrm>
          <a:prstGeom prst="roundRect">
            <a:avLst>
              <a:gd name="adj" fmla="val 8333"/>
            </a:avLst>
          </a:prstGeom>
          <a:solidFill>
            <a:srgbClr val="DFF0E5"/>
          </a:solidFill>
          <a:ln w="12700">
            <a:solidFill>
              <a:srgbClr val="DFF0E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680960" y="3749040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8732520" y="374904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· LOG · SVC · GOV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· 8 · 11 · 12 controls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589520" y="4526280"/>
            <a:ext cx="4069080" cy="658368"/>
          </a:xfrm>
          <a:prstGeom prst="roundRect">
            <a:avLst>
              <a:gd name="adj" fmla="val 8333"/>
            </a:avLst>
          </a:prstGeom>
          <a:solidFill>
            <a:srgbClr val="DFF0E5"/>
          </a:solidFill>
          <a:ln w="12700">
            <a:solidFill>
              <a:srgbClr val="DFF0E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80960" y="4526280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732520" y="452628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 · RS · IB · SC · CP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52 · 51 · 22 · 20 rules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589520" y="5303520"/>
            <a:ext cx="4069080" cy="658368"/>
          </a:xfrm>
          <a:prstGeom prst="roundRect">
            <a:avLst>
              <a:gd name="adj" fmla="val 8333"/>
            </a:avLst>
          </a:prstGeom>
          <a:solidFill>
            <a:srgbClr val="DFF0E5"/>
          </a:solidFill>
          <a:ln w="12700">
            <a:solidFill>
              <a:srgbClr val="DFF0E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680960" y="5303520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8732520" y="530352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GRD · HOOK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guardrails · 5 hooks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→ Aurora PostgreSQL with Kiro  ·  13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7589520" y="614476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Manual-only by nature: CC-67, RQ-20, IC-31, IC-34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 kinds of tests, each answering a different risk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"does it behave the same" to "can it be tricked" to "can we prove what happened"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737360"/>
            <a:ext cx="292608" cy="29260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66420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 parity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148840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 routines return the same results — including preserved bugs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37560" y="155448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502152" y="1737360"/>
            <a:ext cx="292608" cy="29260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86200" y="166420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502152" y="2148840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template in every skill runs on PostgreSQL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26480" y="155448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91072" y="1737360"/>
            <a:ext cx="292608" cy="29260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75120" y="166420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Corner cases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91072" y="2148840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tagged tests for each risky construct (CC, IC)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915400" y="155448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079992" y="1737360"/>
            <a:ext cx="292608" cy="292608"/>
          </a:xfrm>
          <a:prstGeom prst="ellipse">
            <a:avLst/>
          </a:prstGeom>
          <a:solidFill>
            <a:srgbClr val="5B4B8A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464040" y="166420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correctness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079992" y="2148840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hand-computed numbers per pattern and rule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090672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13232" y="3273552"/>
            <a:ext cx="292608" cy="292608"/>
          </a:xfrm>
          <a:prstGeom prst="ellipse">
            <a:avLst/>
          </a:prstGeom>
          <a:solidFill>
            <a:srgbClr val="5B4B8A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7280" y="3200400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checks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" y="368503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leftover T-SQL, duplicates, volatility, COMMIT in functions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337560" y="3090672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502152" y="3273552"/>
            <a:ext cx="292608" cy="292608"/>
          </a:xfrm>
          <a:prstGeom prst="ellipse">
            <a:avLst/>
          </a:prstGeom>
          <a:solidFill>
            <a:srgbClr val="E8710A"/>
          </a:solidFill>
          <a:ln w="12700">
            <a:solidFill>
              <a:srgbClr val="E8710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886200" y="3200400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trip &amp; regeneration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3502152" y="368503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 XML reproducible; real exports byte for byte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26480" y="3090672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291072" y="3273552"/>
            <a:ext cx="292608" cy="29260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675120" y="3200400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negative tests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291072" y="368503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XXE, billion laughs, injection, secrets, dangerous conversions, traversal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8915400" y="3090672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9079992" y="3273552"/>
            <a:ext cx="292608" cy="29260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464040" y="3200400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hook tests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9079992" y="368503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GRD rule blocks its cases and allows the normal workflow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48640" y="4626864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13232" y="4809744"/>
            <a:ext cx="292608" cy="29260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097280" y="473659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lineage tests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13232" y="5221224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format, correlation, redaction, hash chain, concurrency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3337560" y="4626864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3502152" y="4809744"/>
            <a:ext cx="292608" cy="292608"/>
          </a:xfrm>
          <a:prstGeom prst="ellipse">
            <a:avLst/>
          </a:prstGeom>
          <a:solidFill>
            <a:srgbClr val="E8710A"/>
          </a:solidFill>
          <a:ln w="12700">
            <a:solidFill>
              <a:srgbClr val="E8710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886200" y="473659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service tests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3502152" y="5221224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stub AWS CLI: fallback, fail-loud, batching, idempotency, Object Lock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126480" y="4626864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6291072" y="4809744"/>
            <a:ext cx="292608" cy="29260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675120" y="473659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correlation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6291072" y="5221224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id and application_name visible in PostgreSQL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8915400" y="4626864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9079992" y="4809744"/>
            <a:ext cx="292608" cy="292608"/>
          </a:xfrm>
          <a:prstGeom prst="ellipse">
            <a:avLst/>
          </a:prstGeom>
          <a:solidFill>
            <a:srgbClr val="0B2E3A"/>
          </a:solidFill>
          <a:ln w="12700">
            <a:solidFill>
              <a:srgbClr val="0B2E3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464040" y="473659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enforcement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9079992" y="5221224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 fails if any catalog rule has no test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→ Aurora PostgreSQL with Kiro  · 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Roadmap: from one migration path to a migration platform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skill reuses the same agent, guardrails, audit, test engine and coverage gate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66160" cy="566928"/>
          </a:xfrm>
          <a:prstGeom prst="chevron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55448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Delivered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331720"/>
            <a:ext cx="3520440" cy="896112"/>
          </a:xfrm>
          <a:prstGeom prst="roundRect">
            <a:avLst>
              <a:gd name="adj" fmla="val 6122"/>
            </a:avLst>
          </a:prstGeom>
          <a:solidFill>
            <a:srgbClr val="DFF0E5"/>
          </a:solidFill>
          <a:ln w="12700">
            <a:solidFill>
              <a:srgbClr val="DFF0E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13232" y="2331720"/>
            <a:ext cx="3200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→ Aurora PostgreSQL · reports · Informatica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procedures, functions, triggers, DDL · 15 report patterns · PowerCenter XML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355848"/>
            <a:ext cx="3520440" cy="896112"/>
          </a:xfrm>
          <a:prstGeom prst="roundRect">
            <a:avLst>
              <a:gd name="adj" fmla="val 6122"/>
            </a:avLst>
          </a:prstGeom>
          <a:solidFill>
            <a:srgbClr val="DFF0E5"/>
          </a:solidFill>
          <a:ln w="12700">
            <a:solidFill>
              <a:srgbClr val="DFF0E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13232" y="3355848"/>
            <a:ext cx="3200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+ Redshift + Iceberg on S3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 (M2RVE), warehouse DDL/views/procedures, lake tables, Athena views, Glue jobs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379976"/>
            <a:ext cx="3520440" cy="896112"/>
          </a:xfrm>
          <a:prstGeom prst="roundRect">
            <a:avLst>
              <a:gd name="adj" fmla="val 6122"/>
            </a:avLst>
          </a:prstGeom>
          <a:solidFill>
            <a:srgbClr val="DFF0E5"/>
          </a:solidFill>
          <a:ln w="12700">
            <a:solidFill>
              <a:srgbClr val="DFF0E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13232" y="4379976"/>
            <a:ext cx="3200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conformance + change propagation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hashed snapshots, per-column classification, cast-before-rename dry-run packages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97680" y="1554480"/>
            <a:ext cx="3566160" cy="566928"/>
          </a:xfrm>
          <a:prstGeom prst="chevron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0" y="155448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297680" y="2331720"/>
            <a:ext cx="3520440" cy="896112"/>
          </a:xfrm>
          <a:prstGeom prst="roundRect">
            <a:avLst>
              <a:gd name="adj" fmla="val 6122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462272" y="2331720"/>
            <a:ext cx="3200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validation at a snapshot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counts, key sets, checksums, sample diffs on all targets (V-012…V-021 executed)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297680" y="3355848"/>
            <a:ext cx="3520440" cy="896112"/>
          </a:xfrm>
          <a:prstGeom prst="roundRect">
            <a:avLst>
              <a:gd name="adj" fmla="val 6122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4462272" y="3355848"/>
            <a:ext cx="3200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 paths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Redshift Spectrum / managed Iceberg tables; Glue Data Catalog multi-dialect views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297680" y="4379976"/>
            <a:ext cx="3520440" cy="896112"/>
          </a:xfrm>
          <a:prstGeom prst="roundRect">
            <a:avLst>
              <a:gd name="adj" fmla="val 6122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462272" y="4379976"/>
            <a:ext cx="3200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AI-DLC integration (placeholder)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and packages mapped to Inception / Construction / Operations; steering + package adapter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46720" y="1554480"/>
            <a:ext cx="3566160" cy="566928"/>
          </a:xfrm>
          <a:prstGeom prst="chevron">
            <a:avLst/>
          </a:prstGeom>
          <a:solidFill>
            <a:srgbClr val="5B4B8A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321040" y="155448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Later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046720" y="2331720"/>
            <a:ext cx="3520440" cy="896112"/>
          </a:xfrm>
          <a:prstGeom prst="roundRect">
            <a:avLst>
              <a:gd name="adj" fmla="val 6122"/>
            </a:avLst>
          </a:prstGeom>
          <a:solidFill>
            <a:srgbClr val="E9E4F5"/>
          </a:solidFill>
          <a:ln w="12700">
            <a:solidFill>
              <a:srgbClr val="E9E4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211312" y="2331720"/>
            <a:ext cx="3200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stored procedures → Oracle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T-SQL → PL/SQL, packages, sequences, exceptions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046720" y="3355848"/>
            <a:ext cx="3520440" cy="896112"/>
          </a:xfrm>
          <a:prstGeom prst="roundRect">
            <a:avLst>
              <a:gd name="adj" fmla="val 6122"/>
            </a:avLst>
          </a:prstGeom>
          <a:solidFill>
            <a:srgbClr val="E9E4F5"/>
          </a:solidFill>
          <a:ln w="12700">
            <a:solidFill>
              <a:srgbClr val="E9E4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211312" y="3355848"/>
            <a:ext cx="3200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Informatica ETL → Redshift and Oracle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overrides and Pre/Post SQL per target; COPY / UNLOAD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046720" y="4379976"/>
            <a:ext cx="3520440" cy="896112"/>
          </a:xfrm>
          <a:prstGeom prst="roundRect">
            <a:avLst>
              <a:gd name="adj" fmla="val 6122"/>
            </a:avLst>
          </a:prstGeom>
          <a:solidFill>
            <a:srgbClr val="E9E4F5"/>
          </a:solidFill>
          <a:ln w="12700">
            <a:solidFill>
              <a:srgbClr val="E9E4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211312" y="4379976"/>
            <a:ext cx="3200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evidence on Redshift / Athena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test workgroups and databases exist (never created by the kit)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544068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0B2E3A"/>
          </a:solidFill>
          <a:ln w="12700">
            <a:solidFill>
              <a:srgbClr val="0B2E3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1520" y="544068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0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Reused by every new skill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154680" y="5550408"/>
            <a:ext cx="2697480" cy="292608"/>
          </a:xfrm>
          <a:prstGeom prst="roundRect">
            <a:avLst>
              <a:gd name="adj" fmla="val 53125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154680" y="555040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hooks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989320" y="5550408"/>
            <a:ext cx="2697480" cy="292608"/>
          </a:xfrm>
          <a:prstGeom prst="roundRect">
            <a:avLst>
              <a:gd name="adj" fmla="val 53125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989320" y="555040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migkit: security · audit · lineage · AWS services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823960" y="5550408"/>
            <a:ext cx="2697480" cy="292608"/>
          </a:xfrm>
          <a:prstGeom prst="roundRect">
            <a:avLst>
              <a:gd name="adj" fmla="val 53125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823960" y="555040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engine + coverage gate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154680" y="5916168"/>
            <a:ext cx="2697480" cy="292608"/>
          </a:xfrm>
          <a:prstGeom prst="roundRect">
            <a:avLst>
              <a:gd name="adj" fmla="val 53125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154680" y="591616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steering + skill + examples pattern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989320" y="5916168"/>
            <a:ext cx="2697480" cy="292608"/>
          </a:xfrm>
          <a:prstGeom prst="roundRect">
            <a:avLst>
              <a:gd name="adj" fmla="val 53125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989320" y="591616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Linux · macOS scripts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→ Aurora PostgreSQL with Kiro  ·  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items and next steps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here blocks the tests today; each item has documented commands in the README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4343400"/>
          </a:xfrm>
          <a:prstGeom prst="roundRect">
            <a:avLst>
              <a:gd name="adj" fmla="val 2078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83080"/>
            <a:ext cx="3154680" cy="548640"/>
          </a:xfrm>
          <a:prstGeom prst="roundRect">
            <a:avLst>
              <a:gd name="adj" fmla="val 10000"/>
            </a:avLst>
          </a:prstGeom>
          <a:solidFill>
            <a:srgbClr val="E8710A"/>
          </a:solidFill>
          <a:ln w="12700">
            <a:solidFill>
              <a:srgbClr val="E8710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78308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 &amp; AWS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77240" y="2606040"/>
            <a:ext cx="365760" cy="365760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560320"/>
            <a:ext cx="2606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root access keys with an IAM Identity Center user or role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77240" y="3703320"/>
            <a:ext cx="365760" cy="365760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703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3657600"/>
            <a:ext cx="2606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KMS key, CloudWatch Logs group, Bedrock guardrail, S3 Object Lock bucket, DataZone domain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" y="4800600"/>
            <a:ext cx="365760" cy="365760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4754880"/>
            <a:ext cx="2606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migration-services.json and sync collected evidence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297680" y="1600200"/>
            <a:ext cx="3520440" cy="4343400"/>
          </a:xfrm>
          <a:prstGeom prst="roundRect">
            <a:avLst>
              <a:gd name="adj" fmla="val 2078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480560" y="1783080"/>
            <a:ext cx="3154680" cy="548640"/>
          </a:xfrm>
          <a:prstGeom prst="roundRect">
            <a:avLst>
              <a:gd name="adj" fmla="val 10000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480560" y="178308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&amp; code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526280" y="2606040"/>
            <a:ext cx="365760" cy="365760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26280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0" y="2560320"/>
            <a:ext cx="2606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custom parameter group: pgaudit, application_name in logs, log export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26280" y="3703320"/>
            <a:ext cx="365760" cy="365760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26280" y="3703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029200" y="3657600"/>
            <a:ext cx="2606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six flagged objects (report quirks, coupon bug, split result sets, atomic order)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26280" y="4800600"/>
            <a:ext cx="365760" cy="365760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2628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029200" y="4754880"/>
            <a:ext cx="2606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Resync identity sequences after the data load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46720" y="1600200"/>
            <a:ext cx="3520440" cy="4343400"/>
          </a:xfrm>
          <a:prstGeom prst="roundRect">
            <a:avLst>
              <a:gd name="adj" fmla="val 2078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229600" y="1783080"/>
            <a:ext cx="3154680" cy="548640"/>
          </a:xfrm>
          <a:prstGeom prst="roundRect">
            <a:avLst>
              <a:gd name="adj" fmla="val 10000"/>
            </a:avLst>
          </a:prstGeom>
          <a:solidFill>
            <a:srgbClr val="5B4B8A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29600" y="178308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ETL &amp; kit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8275320" y="2606040"/>
            <a:ext cx="365760" cy="365760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75320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8778240" y="2560320"/>
            <a:ext cx="2606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PostgreSQL connection objects; re-validate mappings; run one session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275320" y="3703320"/>
            <a:ext cx="365760" cy="365760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75320" y="3703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8778240" y="3657600"/>
            <a:ext cx="2606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connector specifics for your PowerCenter version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275320" y="4800600"/>
            <a:ext cx="365760" cy="365760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27532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8778240" y="4754880"/>
            <a:ext cx="2606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Windows scripts once on Windows; move hooks for Kiro CLI 3.0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→ Aurora PostgreSQL with Kiro  ·  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2E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2801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Guarded. Tested. Traceable.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731520" y="2633472"/>
            <a:ext cx="502920" cy="502920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2633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25603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0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  </a:t>
            </a:r>
            <a:pPr indent="0" marL="0">
              <a:buNone/>
            </a:pPr>
            <a:r>
              <a:rPr lang="en-US" sz="170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 parity by rule; every deviation flagged for a business decision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3502152"/>
            <a:ext cx="502920" cy="502920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3502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34290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0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 </a:t>
            </a:r>
            <a:pPr indent="0" marL="0">
              <a:buNone/>
            </a:pPr>
            <a:r>
              <a:rPr lang="en-US" sz="170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674 automated checks and a coverage gate on the real target database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31520" y="4370832"/>
            <a:ext cx="502920" cy="502920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3708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42976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0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 </a:t>
            </a:r>
            <a:pPr indent="0" marL="0">
              <a:buNone/>
            </a:pPr>
            <a:r>
              <a:rPr lang="en-US" sz="170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guardrails around the agent, the tools and the database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731520" y="5239512"/>
            <a:ext cx="502920" cy="502920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52395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51663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0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Accountable  </a:t>
            </a:r>
            <a:pPr indent="0" marL="0">
              <a:buNone/>
            </a:pPr>
            <a:r>
              <a:rPr lang="en-US" sz="170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run id, tamper-evident audit trail, lineage — locally or in AWS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612648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F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Details: README.md · docs/Technical_Architecture.docx · docs/SQL_Migration_User_Guide.docx · docs/Reporting_Analytics_SQL_User_Guide.docx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SQL Server to Aurora PostgreSQL, Amazon Redshift and Iceberg with Kiro — Executive Overview</dc:title>
  <dc:subject>PptxGenJS Presentation</dc:subject>
  <dc:creator>SQLMigrationProject</dc:creator>
  <cp:lastModifiedBy>SQLMigrationProject</cp:lastModifiedBy>
  <cp:revision>1</cp:revision>
  <dcterms:created xsi:type="dcterms:W3CDTF">2026-09-18T18:26:49Z</dcterms:created>
  <dcterms:modified xsi:type="dcterms:W3CDTF">2026-09-18T18:26:49Z</dcterms:modified>
</cp:coreProperties>
</file>