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E3A"/>
                </a:solidFill>
                <a:latin typeface="Arial"/>
              </a:rPr>
              <a:t>Automated checks by layer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E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Project suites</c:v>
                  </c:pt>
                  <c:pt idx="1">
                    <c:v>sql-conversion (SQL)</c:v>
                  </c:pt>
                  <c:pt idx="2">
                    <c:v>sql-reporting (SQL)</c:v>
                  </c:pt>
                  <c:pt idx="3">
                    <c:v>Informatica (SQL)</c:v>
                  </c:pt>
                  <c:pt idx="4">
                    <c:v>migkit (unit)</c:v>
                  </c:pt>
                  <c:pt idx="5">
                    <c:v>Informatica tool (unit)</c:v>
                  </c:pt>
                  <c:pt idx="6">
                    <c:v>Agent hooks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153</c:v>
                </c:pt>
                <c:pt idx="1">
                  <c:v>257</c:v>
                </c:pt>
                <c:pt idx="2">
                  <c:v>88</c:v>
                </c:pt>
                <c:pt idx="3">
                  <c:v>38</c:v>
                </c:pt>
                <c:pt idx="4">
                  <c:v>33</c:v>
                </c:pt>
                <c:pt idx="5">
                  <c:v>27</c:v>
                </c:pt>
                <c:pt idx="6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E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B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 Kiro-based kit that migrates a SQL Server estate (database code, reports, Informatica ETL) to Aurora PostgreSQL. Every result is proven by tests; the agent operates inside deterministic guardrails with a full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are a hypothetical example for discussion. Hours per unit: stored procedure manual 15 h (2 analysis, 6 conversion, 4 tests, 3 debugging) vs 4.5 h with the kit (1.5 spec and flag review, 2 review of generated code and tests, 1 fixes); report 6 h vs 2 h; Informatica mapping 12 h (finding SQL in XML, conversion, safe XML edits, testing) vs 3.5 h. Quality: 290 objects, 1 escaped defect per 4 objects manually (~73) vs 80% fewer (~15), 6 h each: 438 h vs 90 h. Regression: 2 engineers x 1 week = 80 h per release, 4 releases per year. Replace the assumptions with your own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top to bottom: people use the Kiro agent; the agent draws on steering, skills and optional MCP servers; tools do everything that must be exact; data and evidence stay local unless AWS services are configured.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schema mismatch detection and schema change tracking make the conversion safe while source and target keep evolving; metadata and data validation prove the data, not only the code. Later: new target platforms (Oracle, Amazon Redshift) for both stored procedures and Informatica ETL; each is a new steering file + skill + examples + tests on the same engine and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→ Aurora PostgreSQL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migration with Kiro: guarded, tested, traceable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· steering · skills · architecture · MCP &amp; knowledge · security guardrails · testing · AWS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611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on Aurora PostgreSQL 17.7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skills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· reporting · Informatica ETL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rulebooks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 the agent's 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39319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the latest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verification run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kit delivers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migration workstreams, one method: convert faithfully, prove on a real database, record everything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code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procedures, functions, triggers and DDL → PL/pgSQL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routines + 17 tables converted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business decisions flagged, none hidden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dashboard SQL on the converted schema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657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tested report patterns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query-correctness rules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Informatica ETL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PowerCenter XML with embedded SQL Server SQL → PostgreSQL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657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example mappings, 44 corner cases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export format round-trips byte for byte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310896" cy="310896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120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511149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parity — bugs are preserved and flagged, never silently fixed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41264"/>
            <a:ext cx="310896" cy="310896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541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553212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 tested — nothing is reported as converted without a passing run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961888"/>
            <a:ext cx="310896" cy="310896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961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59527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outside the model — hooks and tools enforce the rules deterministically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gain — a worked example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estate: 200 stored procedures · 50 reports · 40 Informatica mappings (illustrative assumptions, replace with your baseline)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037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94360"/>
                <a:gridCol w="868680"/>
                <a:gridCol w="868680"/>
                <a:gridCol w="822960"/>
                <a:gridCol w="822960"/>
                <a:gridCol w="777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h /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kit h /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kit 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procedures → PL/pgSQL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&amp; analytics 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 mappings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2,640 (70%)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5760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unit, manual = analysis, conversion, writing tests, debugging. With kit = spec review, agent conversion with generated tests and checks, engineer review of flags and fixes.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4251960"/>
            <a:ext cx="6903720" cy="658368"/>
          </a:xfrm>
          <a:prstGeom prst="roundRect">
            <a:avLst>
              <a:gd name="adj" fmla="val 6944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2519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42519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checks before delivery: assume 1 escaped defect per 4 objects manually (≈73) and 80% fewer with the kit (≈15); 6 h triage + fix each → ≈350 h less rework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001768"/>
            <a:ext cx="6903720" cy="658368"/>
          </a:xfrm>
          <a:prstGeom prst="roundRect">
            <a:avLst>
              <a:gd name="adj" fmla="val 6944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0017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effort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500176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ships with tagged tests (611 checks today): regression per release drops from ≈80 h manual re-testing to a ≈10-minute run — ≈320 h per year at 4 releases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751576"/>
            <a:ext cx="6903720" cy="658368"/>
          </a:xfrm>
          <a:prstGeom prst="roundRect">
            <a:avLst>
              <a:gd name="adj" fmla="val 6944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575157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575157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fixed once in steering or a skill is re-applied and re-verified everywhere; the coverage gate stops untested rules; the audit trail turns incident triage from hours into minutes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18120" y="1600200"/>
            <a:ext cx="3840480" cy="1078992"/>
          </a:xfrm>
          <a:prstGeom prst="roundRect">
            <a:avLst>
              <a:gd name="adj" fmla="val 6780"/>
            </a:avLst>
          </a:prstGeom>
          <a:solidFill>
            <a:srgbClr val="0B2E3A"/>
          </a:solidFill>
          <a:ln w="12700">
            <a:solidFill>
              <a:srgbClr val="0B2E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955280" y="1600200"/>
            <a:ext cx="1783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2,640 h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9738360" y="1600200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hours saved (70%)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330 person-days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818120" y="2807208"/>
            <a:ext cx="3840480" cy="1078992"/>
          </a:xfrm>
          <a:prstGeom prst="roundRect">
            <a:avLst>
              <a:gd name="adj" fmla="val 6780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955280" y="2807208"/>
            <a:ext cx="1783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≈350 h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9738360" y="2807208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defect rework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≈80% fewer escaped defects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818120" y="4014216"/>
            <a:ext cx="3840480" cy="1078992"/>
          </a:xfrm>
          <a:prstGeom prst="roundRect">
            <a:avLst>
              <a:gd name="adj" fmla="val 6780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955280" y="4014216"/>
            <a:ext cx="1783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≈320 h / yr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738360" y="4014216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effort avoided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minutes, not weeks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818120" y="5221224"/>
            <a:ext cx="3840480" cy="1078992"/>
          </a:xfrm>
          <a:prstGeom prst="roundRect">
            <a:avLst>
              <a:gd name="adj" fmla="val 6780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955280" y="5221224"/>
            <a:ext cx="1783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9738360" y="522122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corner cases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automated tests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agent + steering + skills, deterministic tools, local-first evidence, optional AWS back ends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45336"/>
            <a:ext cx="136245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1508760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8F1F3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13432" y="1545336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engineer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IDE · kiro-cli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25440" y="1508760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8F1F3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98592" y="1545336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operator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kiro_migrate.sh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10600" y="1508760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8F1F3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3752" y="1545336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/ security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· audit 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167128"/>
            <a:ext cx="914" cy="182880"/>
          </a:xfrm>
          <a:prstGeom prst="line">
            <a:avLst/>
          </a:prstGeom>
          <a:noFill/>
          <a:ln w="22225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35000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86584"/>
            <a:ext cx="136245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40280" y="2350008"/>
            <a:ext cx="4640580" cy="658368"/>
          </a:xfrm>
          <a:prstGeom prst="roundRect">
            <a:avLst>
              <a:gd name="adj" fmla="val 11111"/>
            </a:avLst>
          </a:prstGeom>
          <a:solidFill>
            <a:srgbClr val="DFF0E5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13432" y="2386584"/>
            <a:ext cx="449427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sql-migration-agent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· allow-lists · resources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18020" y="2350008"/>
            <a:ext cx="4640580" cy="658368"/>
          </a:xfrm>
          <a:prstGeom prst="roundRect">
            <a:avLst>
              <a:gd name="adj" fmla="val 11111"/>
            </a:avLst>
          </a:prstGeom>
          <a:solidFill>
            <a:srgbClr val="DFF0E5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91172" y="2386584"/>
            <a:ext cx="449427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outside the model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· prompt · preToolUse guard · postToolUse · stop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3008376"/>
            <a:ext cx="914" cy="182880"/>
          </a:xfrm>
          <a:prstGeom prst="line">
            <a:avLst/>
          </a:prstGeom>
          <a:noFill/>
          <a:ln w="22225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19125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227832"/>
            <a:ext cx="136245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40280" y="3191256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3F1E0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13432" y="3227832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(always)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rulebooks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25440" y="3191256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3F1E0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98592" y="3227832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(on demand)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 · catalogs · examples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10600" y="3191256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3F1E0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3752" y="3227832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(optional)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SQL Server · AWS docs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3849624"/>
            <a:ext cx="914" cy="182880"/>
          </a:xfrm>
          <a:prstGeom prst="line">
            <a:avLst/>
          </a:prstGeom>
          <a:noFill/>
          <a:ln w="22225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4032504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" y="4069080"/>
            <a:ext cx="136245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40280" y="4032504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FDF1D6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13432" y="4069080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infa_sql_tool.py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check · inject · render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25440" y="4032504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FDF1D6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98592" y="4069080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pgtest.sh · coverage gate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10600" y="4032504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FDF1D6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3752" y="4069080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migkit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audit · services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4690872"/>
            <a:ext cx="914" cy="182880"/>
          </a:xfrm>
          <a:prstGeom prst="line">
            <a:avLst/>
          </a:prstGeom>
          <a:noFill/>
          <a:ln w="22225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8640" y="4873752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" y="4910328"/>
            <a:ext cx="136245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240280" y="4873752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9E4F5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13432" y="4910328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 → generated/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· XML · PL/pgSQL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25440" y="4873752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9E4F5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98592" y="4910328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PostgreSQL 17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DB · IAM auth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10600" y="4873752"/>
            <a:ext cx="3048000" cy="658368"/>
          </a:xfrm>
          <a:prstGeom prst="roundRect">
            <a:avLst>
              <a:gd name="adj" fmla="val 11111"/>
            </a:avLst>
          </a:prstGeom>
          <a:solidFill>
            <a:srgbClr val="E9E4F5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3752" y="4910328"/>
            <a:ext cx="290169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lineage · archive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5532120"/>
            <a:ext cx="914" cy="182880"/>
          </a:xfrm>
          <a:prstGeom prst="line">
            <a:avLst/>
          </a:prstGeom>
          <a:noFill/>
          <a:ln w="22225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48640" y="57150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1792" y="5751576"/>
            <a:ext cx="136245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240280" y="5715000"/>
            <a:ext cx="1773936" cy="658368"/>
          </a:xfrm>
          <a:prstGeom prst="roundRect">
            <a:avLst>
              <a:gd name="adj" fmla="val 11111"/>
            </a:avLst>
          </a:prstGeom>
          <a:solidFill>
            <a:srgbClr val="FDE8D6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313432" y="5751576"/>
            <a:ext cx="1627632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51376" y="5715000"/>
            <a:ext cx="1773936" cy="658368"/>
          </a:xfrm>
          <a:prstGeom prst="roundRect">
            <a:avLst>
              <a:gd name="adj" fmla="val 11111"/>
            </a:avLst>
          </a:prstGeom>
          <a:solidFill>
            <a:srgbClr val="FDE8D6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224528" y="5751576"/>
            <a:ext cx="1627632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DataZone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062472" y="5715000"/>
            <a:ext cx="1773936" cy="658368"/>
          </a:xfrm>
          <a:prstGeom prst="roundRect">
            <a:avLst>
              <a:gd name="adj" fmla="val 11111"/>
            </a:avLst>
          </a:prstGeom>
          <a:solidFill>
            <a:srgbClr val="FDE8D6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135624" y="5751576"/>
            <a:ext cx="1627632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73568" y="5715000"/>
            <a:ext cx="1773936" cy="658368"/>
          </a:xfrm>
          <a:prstGeom prst="roundRect">
            <a:avLst>
              <a:gd name="adj" fmla="val 11111"/>
            </a:avLst>
          </a:prstGeom>
          <a:solidFill>
            <a:srgbClr val="FDE8D6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046720" y="5751576"/>
            <a:ext cx="1627632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884664" y="5715000"/>
            <a:ext cx="1773936" cy="658368"/>
          </a:xfrm>
          <a:prstGeom prst="roundRect">
            <a:avLst>
              <a:gd name="adj" fmla="val 11111"/>
            </a:avLst>
          </a:prstGeom>
          <a:solidFill>
            <a:srgbClr val="FDE8D6"/>
          </a:solidFill>
          <a:ln w="9525">
            <a:solidFill>
              <a:srgbClr val="B9C8C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957816" y="5751576"/>
            <a:ext cx="1627632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2240280" y="64465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Windows, Linux and macOS. AWS back ends are used when configured and reachable; otherwise the same data stays in logs/ and is synced later.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Steering: what "correct" means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Always-loaded rulebooks — generic and portable except the project file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migration.md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508760" y="222199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221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hard rules [H] · 11 parity rules [P]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24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and syntax maps, transactions, errors, naming, validation checklist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informatica-etl.md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132320" y="222199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2221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rules [IE]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24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SQL lives in PowerCenter XML, invariants ($$params, ?ports?, :TU.), datatype and connection mapping, real export format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security.md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508760" y="437083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08760" y="4370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rules [S]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731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content, no secrets, least privilege, AWS read-only, one run id, logs are evidence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37490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project.md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132320" y="437083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4370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values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7731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cluster and test database, folders, commands, AWS service status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tells the model what to do; hooks, tools and the test engine check the critical rules again without relying on the model.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Skills: how one unit of work is done and proven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= numbered procedure + worked examples + corner-case catalog + scripts + self-test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9C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sql-conversion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→ PL/pgSQL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steps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89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cases CC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test engine · migkit · 290 tests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9C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7830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8013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sql-reporting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analytics SQL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834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steps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patterns RP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389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rules RQ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report functions · 88 tests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9C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17830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18013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informatica-etl-conversion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PowerCenter XML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834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87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steps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87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mappings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389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87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cases IC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infa_sql_tool.py · public corpus · 65 tests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9436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943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schema-validation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063240" y="594360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63240" y="5943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metadata-validation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59436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loads a skill when the request matches its description, or on /skill-name.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works a request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converts; tools, tests and hooks decide what is allowed and what counts as done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819656"/>
            <a:ext cx="154533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"Convert source/usp_X.sql"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58568" y="2350008"/>
            <a:ext cx="164592" cy="914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41448" y="17830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14600" y="1819656"/>
            <a:ext cx="154533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input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· secrets · hidden text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51376" y="2350008"/>
            <a:ext cx="164592" cy="914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34256" y="17830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07408" y="1819656"/>
            <a:ext cx="154533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skill + examples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44184" y="2350008"/>
            <a:ext cx="164592" cy="914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27064" y="17830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0216" y="1819656"/>
            <a:ext cx="154533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capability · invariants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36992" y="2350008"/>
            <a:ext cx="164592" cy="914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19872" y="17830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DFF0E5"/>
          </a:solidFill>
          <a:ln w="9525">
            <a:solidFill>
              <a:srgbClr val="DFF0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93024" y="1819656"/>
            <a:ext cx="154533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test DB · coverage gate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829800" y="2350008"/>
            <a:ext cx="164592" cy="914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12680" y="17830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85832" y="1819656"/>
            <a:ext cx="154533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· findings · run id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0B2E3A"/>
          </a:solidFill>
          <a:ln w="12700">
            <a:solidFill>
              <a:srgbClr val="0B2E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520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Kiro hooks — run outside the model on every session, prompt and tool call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40690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24E5E"/>
          </a:solidFill>
          <a:ln w="9525">
            <a:solidFill>
              <a:srgbClr val="124E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" y="4105656"/>
            <a:ext cx="1865376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agentSpawn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run id · security notice · migration status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944368" y="40690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24E5E"/>
          </a:solidFill>
          <a:ln w="9525">
            <a:solidFill>
              <a:srgbClr val="124E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17520" y="4105656"/>
            <a:ext cx="1865376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hash only · injection warning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11496" y="40690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2A007"/>
          </a:solidFill>
          <a:ln w="9525">
            <a:solidFill>
              <a:srgbClr val="F2A00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84648" y="4105656"/>
            <a:ext cx="1865376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 allow or BLOCKED GRD-nn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78624" y="40690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24E5E"/>
          </a:solidFill>
          <a:ln w="9525">
            <a:solidFill>
              <a:srgbClr val="124E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51776" y="4105656"/>
            <a:ext cx="1865376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tool audit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445752" y="40690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24E5E"/>
          </a:solidFill>
          <a:ln w="9525">
            <a:solidFill>
              <a:srgbClr val="124E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18904" y="4105656"/>
            <a:ext cx="1865376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record · sync evidence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2926080"/>
            <a:ext cx="914" cy="502920"/>
          </a:xfrm>
          <a:prstGeom prst="line">
            <a:avLst/>
          </a:prstGeom>
          <a:noFill/>
          <a:ln w="25400">
            <a:solidFill>
              <a:srgbClr val="F2A007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4922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bases and MCP servers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knowledge in the workspace; live facts through read-only MCP servers — all results treated as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0" y="278892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82312" y="2825496"/>
            <a:ext cx="2642616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sql-migration-agent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IDE / kiro-cli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937760" y="48006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2A007"/>
          </a:solidFill>
          <a:ln w="9525">
            <a:solidFill>
              <a:srgbClr val="F2A00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10912" y="4837176"/>
            <a:ext cx="2185416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guard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SQL · write mode blocked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9048" y="4160520"/>
            <a:ext cx="914" cy="640080"/>
          </a:xfrm>
          <a:prstGeom prst="line">
            <a:avLst/>
          </a:prstGeom>
          <a:noFill/>
          <a:ln w="22225">
            <a:solidFill>
              <a:srgbClr val="F2A007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bases (in the workspace)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048256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rulebooks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loaded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2350008"/>
            <a:ext cx="594360" cy="1124712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816352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852928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procedures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154680"/>
            <a:ext cx="594360" cy="320040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621024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657600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· IC · RQ/RP · SEC/LOG/SVC · GRD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14800" y="3474720"/>
            <a:ext cx="594360" cy="484632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425696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4462272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T-SQL · 15 reports · 5 mappings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4114800" y="3474720"/>
            <a:ext cx="594360" cy="1289304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230368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5266944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export corpus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PowerCenter XML (HHS)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flipV="1">
            <a:off x="4114800" y="3474720"/>
            <a:ext cx="594360" cy="2093976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0010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servers (optional, disabled by default)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92440" y="2011680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65592" y="2048256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MCP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schema · read-only query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7498080" y="2350008"/>
            <a:ext cx="594360" cy="1124712"/>
          </a:xfrm>
          <a:prstGeom prst="line">
            <a:avLst/>
          </a:prstGeom>
          <a:noFill/>
          <a:ln w="127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92440" y="2816352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65592" y="2852928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MCP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procedure text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V="1">
            <a:off x="7498080" y="3154680"/>
            <a:ext cx="594360" cy="320040"/>
          </a:xfrm>
          <a:prstGeom prst="line">
            <a:avLst/>
          </a:prstGeom>
          <a:noFill/>
          <a:ln w="127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92440" y="3621024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65592" y="3657600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Knowledge MCP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features · regions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98080" y="3474720"/>
            <a:ext cx="594360" cy="484632"/>
          </a:xfrm>
          <a:prstGeom prst="line">
            <a:avLst/>
          </a:prstGeom>
          <a:noFill/>
          <a:ln w="127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92440" y="4425696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65592" y="4462272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Documentation MCP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read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98080" y="3474720"/>
            <a:ext cx="594360" cy="1289304"/>
          </a:xfrm>
          <a:prstGeom prst="line">
            <a:avLst/>
          </a:prstGeom>
          <a:noFill/>
          <a:ln w="127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92440" y="5230368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65592" y="5266944"/>
            <a:ext cx="341985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API MCP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READ_OPERATIONS_ONLY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98080" y="3474720"/>
            <a:ext cx="594360" cy="2093976"/>
          </a:xfrm>
          <a:prstGeom prst="line">
            <a:avLst/>
          </a:prstGeom>
          <a:noFill/>
          <a:ln w="127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 always run through the shell (psql meta-commands); MCP is for facts, not for proof.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Informatica ETL: exact where it must be exact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handles XML, encodings, integrity and lineage; the model converts only the SQL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4148" y="1691640"/>
            <a:ext cx="420624" cy="420624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414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2276856"/>
            <a:ext cx="1545336" cy="116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XML parse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· manifest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58568" y="2852928"/>
            <a:ext cx="146304" cy="914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58668" y="1691640"/>
            <a:ext cx="420624" cy="420624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866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2240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496312" y="2276856"/>
            <a:ext cx="1545336" cy="116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SQL →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files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33088" y="2852928"/>
            <a:ext cx="146304" cy="914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33188" y="1691640"/>
            <a:ext cx="420624" cy="420624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318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2240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370832" y="2276856"/>
            <a:ext cx="1545336" cy="116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invariants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T-SQL · SEC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07608" y="2852928"/>
            <a:ext cx="146304" cy="914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07708" y="1691640"/>
            <a:ext cx="420624" cy="420624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0770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2240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45352" y="2276856"/>
            <a:ext cx="1545336" cy="116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XML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· lineage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82128" y="2852928"/>
            <a:ext cx="146304" cy="914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2228" y="1691640"/>
            <a:ext cx="420624" cy="420624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222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46720" y="2240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119872" y="2276856"/>
            <a:ext cx="1545336" cy="116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.prm values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parameters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56648" y="2852928"/>
            <a:ext cx="146304" cy="914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556748" y="1691640"/>
            <a:ext cx="420624" cy="420624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5674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21240" y="2240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994392" y="2276856"/>
            <a:ext cx="1545336" cy="116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test DB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verified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388620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39319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export format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Windows-1252 / ISO-8859-1, CRLF, NAME ="…" spacing — unchanged exports round-trip byte for byte (14 public exports verified)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72200" y="388620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39319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Server jobs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functions, OUTER APPLY, lookup and update overrides, Pre/Post SQL batches (SET NOCOUNT, IF OBJECT_ID, EXEC)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98348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0292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SQL values change; export hash checked; CRCVALUE-protected elements never modified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72200" y="498348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55080" y="50292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OpenLineage event per conversion: source/target tables, SHA-256 of every SQL value, run id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guardrails: defence in depth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untrusted; each layer holds even if the one above is bypassed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731520"/>
          </a:xfrm>
          <a:prstGeom prst="roundRect">
            <a:avLst>
              <a:gd name="adj" fmla="val 7500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554480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Scanner: prompt injection · hidden Unicode · secrets · dangerous SQL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XML: no entities, DTD subsets or remote DTDs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08660" y="2404872"/>
            <a:ext cx="7086600" cy="731520"/>
          </a:xfrm>
          <a:prstGeom prst="roundRect">
            <a:avLst>
              <a:gd name="adj" fmla="val 7500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" y="24048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Agent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80260" y="240487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Allow-lists for commands and write paths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hook GRD-01..11 blocks credentials, exfiltration, tampering, AWS changes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255264"/>
            <a:ext cx="6766560" cy="731520"/>
          </a:xfrm>
          <a:prstGeom prst="roundRect">
            <a:avLst>
              <a:gd name="adj" fmla="val 7500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255264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Tools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255264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may not add capabilities (COPY PROGRAM, dblink, ALTER SYSTEM…)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parameter values · paths inside the folder · XML integrity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28700" y="4105656"/>
            <a:ext cx="6446520" cy="731520"/>
          </a:xfrm>
          <a:prstGeom prst="roundRect">
            <a:avLst>
              <a:gd name="adj" fmla="val 7500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65860" y="4105656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Database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00300" y="410565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preflight blocks shell escapes and secrets in test 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databases only · no superuser · 15-minute IAM tokens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88720" y="4956048"/>
            <a:ext cx="6126480" cy="731520"/>
          </a:xfrm>
          <a:prstGeom prst="roundRect">
            <a:avLst>
              <a:gd name="adj" fmla="val 7500"/>
            </a:avLst>
          </a:prstGeom>
          <a:solidFill>
            <a:srgbClr val="E9E4F5"/>
          </a:solidFill>
          <a:ln w="12700">
            <a:solidFill>
              <a:srgbClr val="E9E4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495604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Evidence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95604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Redacted, hash-chained audit log · prompts stored as hashes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and S3 Object Lock when configured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1554480"/>
            <a:ext cx="3429000" cy="4160520"/>
          </a:xfrm>
          <a:prstGeom prst="roundRect">
            <a:avLst>
              <a:gd name="adj" fmla="val 1600"/>
            </a:avLst>
          </a:prstGeom>
          <a:solidFill>
            <a:srgbClr val="0B2E3A"/>
          </a:solidFill>
          <a:ln w="12700">
            <a:solidFill>
              <a:srgbClr val="0B2E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LLM Top 10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Prompt injection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· notices · guard · Bedrock filter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017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Sensitive info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blocks · redaction · Secrets Manager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886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Output handling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diff · preflight · safe values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754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Excessive agency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allow-lists · AWS read-only · test DB only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943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943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 · hook blocked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63240" y="5943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63240" y="5943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3 · tool refused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5943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5943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4 · test preflight refused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Audit, correlation and lineage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id connects the Kiro session, every tool, every database session and every lineage record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395728"/>
            <a:ext cx="9966960" cy="0"/>
          </a:xfrm>
          <a:prstGeom prst="line">
            <a:avLst/>
          </a:prstGeom>
          <a:noFill/>
          <a:ln w="38100">
            <a:solidFill>
              <a:srgbClr val="1F7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2194560"/>
            <a:ext cx="402336" cy="402336"/>
          </a:xfrm>
          <a:prstGeom prst="ellipse">
            <a:avLst/>
          </a:prstGeom>
          <a:solidFill>
            <a:srgbClr val="F2A00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2825496"/>
            <a:ext cx="195681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starts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agentSpawn or run_tests.sh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run id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85032" y="2194560"/>
            <a:ext cx="402336" cy="402336"/>
          </a:xfrm>
          <a:prstGeom prst="ellipse">
            <a:avLst/>
          </a:prstGeom>
          <a:solidFill>
            <a:srgbClr val="F2A00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27889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07792" y="2825496"/>
            <a:ext cx="195681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inherit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MIGRATION_RUN_ID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W3C traceparent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71032" y="2194560"/>
            <a:ext cx="402336" cy="402336"/>
          </a:xfrm>
          <a:prstGeom prst="ellipse">
            <a:avLst/>
          </a:prstGeom>
          <a:solidFill>
            <a:srgbClr val="F2A00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27889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93792" y="2825496"/>
            <a:ext cx="195681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records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UTC ms timestamps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57032" y="2194560"/>
            <a:ext cx="402336" cy="402336"/>
          </a:xfrm>
          <a:prstGeom prst="ellipse">
            <a:avLst/>
          </a:prstGeom>
          <a:solidFill>
            <a:srgbClr val="F2A00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7889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79792" y="2825496"/>
            <a:ext cx="195681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sessions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application_name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mig:&lt;manifest&gt;:&lt;run8&gt;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43032" y="2194560"/>
            <a:ext cx="402336" cy="402336"/>
          </a:xfrm>
          <a:prstGeom prst="ellipse">
            <a:avLst/>
          </a:prstGeom>
          <a:solidFill>
            <a:srgbClr val="F2A00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0" y="27889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765792" y="2825496"/>
            <a:ext cx="1956816" cy="1069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OpenLineage event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SHA-256 hashes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audit record carries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709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(UTC, ms)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47091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4709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7091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4709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15400" y="47091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15400" y="4709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 = trace_id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1663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1663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/ parent span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51663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37560" y="51663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· host · user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51663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26480" y="51663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attributes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15400" y="51663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15400" y="51663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· prev_hash · hash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5705856"/>
            <a:ext cx="10917936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audit.py tail --run &lt;run8&gt;   ·   audit.py verify (tamper check)   ·   services.py status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 interaction — with local fallback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concern resolves on its own: AWS when configured and reachable, the local store otherwise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3429000"/>
          </a:xfrm>
          <a:prstGeom prst="roundRect">
            <a:avLst>
              <a:gd name="adj" fmla="val 3077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865376"/>
            <a:ext cx="2231136" cy="3355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components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infa_sql_tool.py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pgtest.sh · run_tests.sh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hooks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kiro_migrate.sh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20440" y="269748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93592" y="2734056"/>
            <a:ext cx="2139696" cy="175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migkit services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per concern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· aws · local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cached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3611880"/>
            <a:ext cx="594360" cy="914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5836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(when configured)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6404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fallback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1865376"/>
            <a:ext cx="245973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 Logs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64040" y="182880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37192" y="1865376"/>
            <a:ext cx="204825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logs/audit/*.jsonl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5806440" y="2121408"/>
            <a:ext cx="777240" cy="1490472"/>
          </a:xfrm>
          <a:prstGeom prst="line">
            <a:avLst/>
          </a:prstGeom>
          <a:noFill/>
          <a:ln w="15875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9720" y="2112264"/>
            <a:ext cx="274320" cy="914"/>
          </a:xfrm>
          <a:prstGeom prst="line">
            <a:avLst/>
          </a:prstGeom>
          <a:noFill/>
          <a:ln w="15875">
            <a:solidFill>
              <a:srgbClr val="1F7A8C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2532888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56832" y="2569464"/>
            <a:ext cx="245973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DataZone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64040" y="2532888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37192" y="2569464"/>
            <a:ext cx="204825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logs/state/lineage.jsonl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V="1">
            <a:off x="5806440" y="2825496"/>
            <a:ext cx="777240" cy="786384"/>
          </a:xfrm>
          <a:prstGeom prst="line">
            <a:avLst/>
          </a:prstGeom>
          <a:noFill/>
          <a:ln w="15875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2816352"/>
            <a:ext cx="274320" cy="914"/>
          </a:xfrm>
          <a:prstGeom prst="line">
            <a:avLst/>
          </a:prstGeom>
          <a:noFill/>
          <a:ln w="15875">
            <a:solidFill>
              <a:srgbClr val="1F7A8C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83680" y="3236976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56832" y="3273552"/>
            <a:ext cx="245973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Guardrails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64040" y="3236976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37192" y="3273552"/>
            <a:ext cx="204825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scanner (always)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5806440" y="3529584"/>
            <a:ext cx="777240" cy="82296"/>
          </a:xfrm>
          <a:prstGeom prst="line">
            <a:avLst/>
          </a:prstGeom>
          <a:noFill/>
          <a:ln w="15875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89720" y="3520440"/>
            <a:ext cx="274320" cy="914"/>
          </a:xfrm>
          <a:prstGeom prst="line">
            <a:avLst/>
          </a:prstGeom>
          <a:noFill/>
          <a:ln w="15875">
            <a:solidFill>
              <a:srgbClr val="1F7A8C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0" y="3941064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56832" y="3977640"/>
            <a:ext cx="245973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+ Object Lock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64040" y="3941064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37192" y="3977640"/>
            <a:ext cx="204825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logs/archive/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3611880"/>
            <a:ext cx="777240" cy="621792"/>
          </a:xfrm>
          <a:prstGeom prst="line">
            <a:avLst/>
          </a:prstGeom>
          <a:noFill/>
          <a:ln w="15875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89720" y="4224528"/>
            <a:ext cx="274320" cy="914"/>
          </a:xfrm>
          <a:prstGeom prst="line">
            <a:avLst/>
          </a:prstGeom>
          <a:noFill/>
          <a:ln w="15875">
            <a:solidFill>
              <a:srgbClr val="1F7A8C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83680" y="4645152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DE8D6"/>
          </a:solidFill>
          <a:ln w="9525">
            <a:solidFill>
              <a:srgbClr val="FDE8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56832" y="4681728"/>
            <a:ext cx="245973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64040" y="464515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3F1E0"/>
          </a:solidFill>
          <a:ln w="9525">
            <a:solidFill>
              <a:srgbClr val="E3F1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537192" y="4681728"/>
            <a:ext cx="204825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token / environment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06440" y="3611880"/>
            <a:ext cx="777240" cy="1325880"/>
          </a:xfrm>
          <a:prstGeom prst="line">
            <a:avLst/>
          </a:prstGeom>
          <a:noFill/>
          <a:ln w="15875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89720" y="4928616"/>
            <a:ext cx="274320" cy="914"/>
          </a:xfrm>
          <a:prstGeom prst="line">
            <a:avLst/>
          </a:prstGeom>
          <a:noFill/>
          <a:ln w="15875">
            <a:solidFill>
              <a:srgbClr val="1F7A8C"/>
            </a:solidFill>
            <a:prstDash val="dash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5458968"/>
            <a:ext cx="219456" cy="219456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458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5413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created automatically — setup commands and a least-privilege IAM policy are provided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788152"/>
            <a:ext cx="219456" cy="219456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788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14400" y="574243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is logged (services.fallback) and records sync when AWS becomes available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6117336"/>
            <a:ext cx="219456" cy="219456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8640" y="6117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" y="607161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handled: CloudWatch batch size and age, DataZone event size, guardrail budget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611 automated checks, one gate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full run on Aurora PostgreSQL 17.7 — 0 failures, every catalog rule covered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6459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gate: no rule without a test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589520" y="2194560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DFF0E5"/>
          </a:solidFill>
          <a:ln w="12700">
            <a:solidFill>
              <a:srgbClr val="DFF0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21945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1945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P · CC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rules · 86 corner cases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89520" y="2971800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DFF0E5"/>
          </a:solidFill>
          <a:ln w="12700">
            <a:solidFill>
              <a:srgbClr val="DFF0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297180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29718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· RP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rules · 15 patterns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3749040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DFF0E5"/>
          </a:solidFill>
          <a:ln w="12700">
            <a:solidFill>
              <a:srgbClr val="DFF0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37490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7490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corner cases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89520" y="4526280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DFF0E5"/>
          </a:solidFill>
          <a:ln w="12700">
            <a:solidFill>
              <a:srgbClr val="DFF0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45262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45262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· LOG · SVC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8 · 11 controls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89520" y="5303520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DFF0E5"/>
          </a:solidFill>
          <a:ln w="12700">
            <a:solidFill>
              <a:srgbClr val="DFF0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53035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732520" y="53035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GRD · HOOK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guardrails · 4 hooks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13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61447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Manual-only by nature: CC-67, RQ-20, IC-31, IC-34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kinds of tests, each answering a different risk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"does it behave the same" to "can it be tricked" to "can we prove what happened"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37360"/>
            <a:ext cx="292608" cy="29260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6642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parity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488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routines return the same results — including preserved bugs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02152" y="1737360"/>
            <a:ext cx="292608" cy="29260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16642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1488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in every skill runs on PostgreSQL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1072" y="1737360"/>
            <a:ext cx="292608" cy="29260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6642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cases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1488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tests for each risky construct (CC, IC)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79992" y="1737360"/>
            <a:ext cx="292608" cy="29260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64040" y="16642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correctness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79992" y="21488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hand-computed numbers per pattern and rule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273552"/>
            <a:ext cx="292608" cy="29260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3200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checks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68503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T-SQL, duplicates, volatility, COMMIT in functions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309067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02152" y="3273552"/>
            <a:ext cx="292608" cy="292608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86200" y="3200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 &amp; regeneration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502152" y="368503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XML reproducible; real exports byte for byte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309067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91072" y="3273552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3200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negative tests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91072" y="368503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XXE, billion laughs, injection, secrets, dangerous conversions, traversal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15400" y="309067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79992" y="3273552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64040" y="3200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hook tests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079992" y="368503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GRD rule blocks its cases and allows the normal workflow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626864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3232" y="4809744"/>
            <a:ext cx="292608" cy="29260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97280" y="47365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lineage tests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52212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correlation, redaction, hash chain, concurrency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337560" y="4626864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502152" y="4809744"/>
            <a:ext cx="292608" cy="292608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86200" y="47365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 tests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3502152" y="52212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AWS CLI: fallback, fail-loud, batching, idempotency, Object Lock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26480" y="4626864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91072" y="4809744"/>
            <a:ext cx="292608" cy="29260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0" y="47365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correlation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291072" y="52212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and application_name visible in PostgreSQL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915400" y="4626864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79992" y="4809744"/>
            <a:ext cx="292608" cy="292608"/>
          </a:xfrm>
          <a:prstGeom prst="ellipse">
            <a:avLst/>
          </a:prstGeom>
          <a:solidFill>
            <a:srgbClr val="0B2E3A"/>
          </a:solidFill>
          <a:ln w="12700">
            <a:solidFill>
              <a:srgbClr val="0B2E3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464040" y="47365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enforcement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079992" y="52212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fails if any catalog rule has no test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from one migration path to a migration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skill reuses the same agent, guardrails, audit, test engine and coverage gate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566928"/>
          </a:xfrm>
          <a:prstGeom prst="chevron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DFF0E5"/>
          </a:solidFill>
          <a:ln w="12700">
            <a:solidFill>
              <a:srgbClr val="DFF0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233172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procedures, functions, triggers, DDL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DFF0E5"/>
          </a:solidFill>
          <a:ln w="12700">
            <a:solidFill>
              <a:srgbClr val="DFF0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13232" y="3355848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 SQL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patterns · 24 correctness rules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79976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DFF0E5"/>
          </a:solidFill>
          <a:ln w="12700">
            <a:solidFill>
              <a:srgbClr val="DFF0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4379976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ETL + SQL Server SQL → PostgreSQL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export format, lineage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566160" cy="566928"/>
          </a:xfrm>
          <a:prstGeom prst="chevron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554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331720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462272" y="233172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mismatch detection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↔ target: tables, columns, types, nullability, keys, collation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355848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62272" y="3355848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 tracking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drift over time; flags affected converted objects and 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4379976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62272" y="4379976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data validation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inventory, row counts, checksums, sample diffs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1554480"/>
            <a:ext cx="3566160" cy="566928"/>
          </a:xfrm>
          <a:prstGeom prst="chevron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1554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46720" y="2331720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E9E4F5"/>
          </a:solidFill>
          <a:ln w="12700">
            <a:solidFill>
              <a:srgbClr val="E9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11312" y="233172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stored procedures → Oracle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→ PL/SQL, packages, sequences, exceptions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355848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E9E4F5"/>
          </a:solidFill>
          <a:ln w="12700">
            <a:solidFill>
              <a:srgbClr val="E9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11312" y="3355848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Amazon Redshift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→ Redshift stored procedures, reports, dist/sort keys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4379976"/>
            <a:ext cx="3520440" cy="896112"/>
          </a:xfrm>
          <a:prstGeom prst="roundRect">
            <a:avLst>
              <a:gd name="adj" fmla="val 6122"/>
            </a:avLst>
          </a:prstGeom>
          <a:solidFill>
            <a:srgbClr val="E9E4F5"/>
          </a:solidFill>
          <a:ln w="12700">
            <a:solidFill>
              <a:srgbClr val="E9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11312" y="4379976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ETL → Oracle and Redshift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and Pre/Post SQL per target; COPY / UNLOAD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B2E3A"/>
          </a:solidFill>
          <a:ln w="12700">
            <a:solidFill>
              <a:srgbClr val="0B2E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4406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Reused by every new skill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54680" y="5550408"/>
            <a:ext cx="2697480" cy="292608"/>
          </a:xfrm>
          <a:prstGeom prst="roundRect">
            <a:avLst>
              <a:gd name="adj" fmla="val 53125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54680" y="5550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hooks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5550408"/>
            <a:ext cx="2697480" cy="292608"/>
          </a:xfrm>
          <a:prstGeom prst="roundRect">
            <a:avLst>
              <a:gd name="adj" fmla="val 53125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5550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migkit: security · audit · lineage · AWS services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23960" y="5550408"/>
            <a:ext cx="2697480" cy="292608"/>
          </a:xfrm>
          <a:prstGeom prst="roundRect">
            <a:avLst>
              <a:gd name="adj" fmla="val 53125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23960" y="5550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 + coverage gate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54680" y="5916168"/>
            <a:ext cx="2697480" cy="292608"/>
          </a:xfrm>
          <a:prstGeom prst="roundRect">
            <a:avLst>
              <a:gd name="adj" fmla="val 53125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54680" y="5916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skill + examples pattern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89320" y="5916168"/>
            <a:ext cx="2697480" cy="292608"/>
          </a:xfrm>
          <a:prstGeom prst="roundRect">
            <a:avLst>
              <a:gd name="adj" fmla="val 53125"/>
            </a:avLst>
          </a:prstGeom>
          <a:solidFill>
            <a:srgbClr val="124E5E"/>
          </a:solidFill>
          <a:ln w="12700">
            <a:solidFill>
              <a:srgbClr val="124E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89320" y="5916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Linux · macOS scripts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blocks the tests today; each item has documented commands in the README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3154680" cy="548640"/>
          </a:xfrm>
          <a:prstGeom prst="roundRect">
            <a:avLst>
              <a:gd name="adj" fmla="val 10000"/>
            </a:avLst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&amp; AWS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root access keys with an IAM Identity Center user or role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6576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KMS key, CloudWatch Logs group, Bedrock guardrail, S3 Object Lock bucket, DataZone domain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80060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7548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migration-services.json and sync collected evidence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16002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783080"/>
            <a:ext cx="3154680" cy="548640"/>
          </a:xfrm>
          <a:prstGeom prst="roundRect">
            <a:avLst>
              <a:gd name="adj" fmla="val 10000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1783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code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26280" y="260604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560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custom parameter group: pgaudit, application_name in logs, log export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26280" y="370332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6576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six flagged objects (report quirks, coupon bug, split result sets, atomic order)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26280" y="480060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47548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Resync identity sequences after the data load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16002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0" y="1783080"/>
            <a:ext cx="3154680" cy="54864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0" y="1783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&amp; kit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275320" y="260604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753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2560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PostgreSQL connection objects; re-validate mappings; run one session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75320" y="370332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53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0" y="36576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connector specifics for your PowerCenter version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75320" y="4800600"/>
            <a:ext cx="365760" cy="36576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7532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47548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Windows scripts once on Windows; move hooks for Kiro CLI 3.0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→ Aurora PostgreSQL with Kiro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Guarded. Tested. Traceable.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2633472"/>
            <a:ext cx="502920" cy="50292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560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 </a:t>
            </a:r>
            <a:pPr indent="0" marL="0">
              <a:buNone/>
            </a:pPr>
            <a:r>
              <a:rPr lang="en-US" sz="17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parity by rule; every deviation flagged for a business decision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502152"/>
            <a:ext cx="502920" cy="50292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 </a:t>
            </a:r>
            <a:pPr indent="0" marL="0">
              <a:buNone/>
            </a:pPr>
            <a:r>
              <a:rPr lang="en-US" sz="17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611 automated checks and a coverage gate on the real target database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370832"/>
            <a:ext cx="502920" cy="50292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297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</a:t>
            </a:r>
            <a:pPr indent="0" marL="0">
              <a:buNone/>
            </a:pPr>
            <a:r>
              <a:rPr lang="en-US" sz="17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 around the agent, the tools and the database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5239512"/>
            <a:ext cx="502920" cy="502920"/>
          </a:xfrm>
          <a:prstGeom prst="ellipse">
            <a:avLst/>
          </a:prstGeom>
          <a:solidFill>
            <a:srgbClr val="F2A007"/>
          </a:solidFill>
          <a:ln w="12700">
            <a:solidFill>
              <a:srgbClr val="F2A00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66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 </a:t>
            </a:r>
            <a:pPr indent="0" marL="0">
              <a:buNone/>
            </a:pPr>
            <a:r>
              <a:rPr lang="en-US" sz="17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id, tamper-evident audit trail, lineage — locally or in AWS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Details: README.md · docs/Technical_Architecture.docx · docs/SQL_Migration_User_Guide.docx · docs/Reporting_Analytics_SQL_User_Guide.docx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to Aurora PostgreSQL with Kiro — Executive Overview</dc:title>
  <dc:subject>PptxGenJS Presentation</dc:subject>
  <dc:creator>SQLMigrationProject</dc:creator>
  <cp:lastModifiedBy>SQLMigrationProject</cp:lastModifiedBy>
  <cp:revision>1</cp:revision>
  <dcterms:created xsi:type="dcterms:W3CDTF">2026-09-14T18:09:38Z</dcterms:created>
  <dcterms:modified xsi:type="dcterms:W3CDTF">2026-09-14T18:09:38Z</dcterms:modified>
</cp:coreProperties>
</file>